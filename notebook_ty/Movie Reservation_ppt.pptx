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24384000" cy="13716000"/>
  <p:notesSz cx="6858000" cy="9144000"/>
  <p:embeddedFontLst>
    <p:embeddedFont>
      <p:font typeface="Pretendard Regular"/>
      <p:regular r:id="rId50"/>
    </p:embeddedFont>
    <p:embeddedFont>
      <p:font typeface="Pretendard Medium"/>
      <p:bold r:id="rId51"/>
    </p:embeddedFont>
    <p:embeddedFont>
      <p:font typeface="Pretendard SemiBold"/>
      <p:bold r:id="rId52"/>
    </p:embeddedFont>
    <p:embeddedFont>
      <p:font typeface="Pretendard Bold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1.fntdata" Type="http://schemas.openxmlformats.org/officeDocument/2006/relationships/font"/><Relationship Id="rId51" Target="fonts/font2.fntdata" Type="http://schemas.openxmlformats.org/officeDocument/2006/relationships/font"/><Relationship Id="rId52" Target="fonts/font3.fntdata" Type="http://schemas.openxmlformats.org/officeDocument/2006/relationships/font"/><Relationship Id="rId53" Target="fonts/font4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44.png" Type="http://schemas.openxmlformats.org/officeDocument/2006/relationships/image"/><Relationship Id="rId5" Target="../media/image4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png" Type="http://schemas.openxmlformats.org/officeDocument/2006/relationships/image"/><Relationship Id="rId12" Target="../media/image73.png" Type="http://schemas.openxmlformats.org/officeDocument/2006/relationships/image"/><Relationship Id="rId13" Target="../media/image74.png" Type="http://schemas.openxmlformats.org/officeDocument/2006/relationships/image"/><Relationship Id="rId14" Target="../media/image75.png" Type="http://schemas.openxmlformats.org/officeDocument/2006/relationships/image"/><Relationship Id="rId15" Target="../media/image76.png" Type="http://schemas.openxmlformats.org/officeDocument/2006/relationships/image"/><Relationship Id="rId16" Target="../media/image77.png" Type="http://schemas.openxmlformats.org/officeDocument/2006/relationships/image"/><Relationship Id="rId17" Target="../media/image78.png" Type="http://schemas.openxmlformats.org/officeDocument/2006/relationships/image"/><Relationship Id="rId18" Target="../media/image79.png" Type="http://schemas.openxmlformats.org/officeDocument/2006/relationships/image"/><Relationship Id="rId19" Target="../media/image80.png" Type="http://schemas.openxmlformats.org/officeDocument/2006/relationships/image"/><Relationship Id="rId2" Target="../media/image1.png" Type="http://schemas.openxmlformats.org/officeDocument/2006/relationships/image"/><Relationship Id="rId20" Target="../media/image81.png" Type="http://schemas.openxmlformats.org/officeDocument/2006/relationships/image"/><Relationship Id="rId21" Target="../media/image82.png" Type="http://schemas.openxmlformats.org/officeDocument/2006/relationships/image"/><Relationship Id="rId22" Target="../media/image83.png" Type="http://schemas.openxmlformats.org/officeDocument/2006/relationships/image"/><Relationship Id="rId23" Target="../media/image84.png" Type="http://schemas.openxmlformats.org/officeDocument/2006/relationships/image"/><Relationship Id="rId3" Target="../media/image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png" Type="http://schemas.openxmlformats.org/officeDocument/2006/relationships/image"/><Relationship Id="rId12" Target="../media/image91.png" Type="http://schemas.openxmlformats.org/officeDocument/2006/relationships/image"/><Relationship Id="rId13" Target="../media/image92.png" Type="http://schemas.openxmlformats.org/officeDocument/2006/relationships/image"/><Relationship Id="rId14" Target="../media/image76.png" Type="http://schemas.openxmlformats.org/officeDocument/2006/relationships/image"/><Relationship Id="rId15" Target="../media/image93.png" Type="http://schemas.openxmlformats.org/officeDocument/2006/relationships/image"/><Relationship Id="rId16" Target="../media/image94.png" Type="http://schemas.openxmlformats.org/officeDocument/2006/relationships/image"/><Relationship Id="rId17" Target="../media/image95.png" Type="http://schemas.openxmlformats.org/officeDocument/2006/relationships/image"/><Relationship Id="rId18" Target="../media/image96.png" Type="http://schemas.openxmlformats.org/officeDocument/2006/relationships/image"/><Relationship Id="rId19" Target="../media/image81.png" Type="http://schemas.openxmlformats.org/officeDocument/2006/relationships/image"/><Relationship Id="rId2" Target="../media/image1.png" Type="http://schemas.openxmlformats.org/officeDocument/2006/relationships/image"/><Relationship Id="rId20" Target="../media/image97.png" Type="http://schemas.openxmlformats.org/officeDocument/2006/relationships/image"/><Relationship Id="rId21" Target="../media/image98.png" Type="http://schemas.openxmlformats.org/officeDocument/2006/relationships/image"/><Relationship Id="rId22" Target="../media/image82.png" Type="http://schemas.openxmlformats.org/officeDocument/2006/relationships/image"/><Relationship Id="rId23" Target="../media/image84.png" Type="http://schemas.openxmlformats.org/officeDocument/2006/relationships/image"/><Relationship Id="rId3" Target="../media/image4.png" Type="http://schemas.openxmlformats.org/officeDocument/2006/relationships/image"/><Relationship Id="rId4" Target="../media/image71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69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11" Target="../media/image103.png" Type="http://schemas.openxmlformats.org/officeDocument/2006/relationships/image"/><Relationship Id="rId12" Target="../media/image104.png" Type="http://schemas.openxmlformats.org/officeDocument/2006/relationships/image"/><Relationship Id="rId13" Target="../media/image105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106.png" Type="http://schemas.openxmlformats.org/officeDocument/2006/relationships/image"/><Relationship Id="rId17" Target="../media/image107.png" Type="http://schemas.openxmlformats.org/officeDocument/2006/relationships/image"/><Relationship Id="rId18" Target="../media/image108.png" Type="http://schemas.openxmlformats.org/officeDocument/2006/relationships/image"/><Relationship Id="rId19" Target="../media/image81.png" Type="http://schemas.openxmlformats.org/officeDocument/2006/relationships/image"/><Relationship Id="rId2" Target="../media/image1.png" Type="http://schemas.openxmlformats.org/officeDocument/2006/relationships/image"/><Relationship Id="rId20" Target="../media/image82.png" Type="http://schemas.openxmlformats.org/officeDocument/2006/relationships/image"/><Relationship Id="rId21" Target="../media/image109.png" Type="http://schemas.openxmlformats.org/officeDocument/2006/relationships/image"/><Relationship Id="rId22" Target="../media/image84.png" Type="http://schemas.openxmlformats.org/officeDocument/2006/relationships/image"/><Relationship Id="rId3" Target="../media/image4.png" Type="http://schemas.openxmlformats.org/officeDocument/2006/relationships/image"/><Relationship Id="rId4" Target="../media/image71.pn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115.png" Type="http://schemas.openxmlformats.org/officeDocument/2006/relationships/image"/><Relationship Id="rId12" Target="../media/image116.png" Type="http://schemas.openxmlformats.org/officeDocument/2006/relationships/image"/><Relationship Id="rId13" Target="../media/image117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118.png" Type="http://schemas.openxmlformats.org/officeDocument/2006/relationships/image"/><Relationship Id="rId17" Target="../media/image119.png" Type="http://schemas.openxmlformats.org/officeDocument/2006/relationships/image"/><Relationship Id="rId18" Target="../media/image120.png" Type="http://schemas.openxmlformats.org/officeDocument/2006/relationships/image"/><Relationship Id="rId19" Target="../media/image81.png" Type="http://schemas.openxmlformats.org/officeDocument/2006/relationships/image"/><Relationship Id="rId2" Target="../media/image1.png" Type="http://schemas.openxmlformats.org/officeDocument/2006/relationships/image"/><Relationship Id="rId20" Target="../media/image121.png" Type="http://schemas.openxmlformats.org/officeDocument/2006/relationships/image"/><Relationship Id="rId21" Target="../media/image122.png" Type="http://schemas.openxmlformats.org/officeDocument/2006/relationships/image"/><Relationship Id="rId22" Target="../media/image123.png" Type="http://schemas.openxmlformats.org/officeDocument/2006/relationships/image"/><Relationship Id="rId23" Target="../media/image84.png" Type="http://schemas.openxmlformats.org/officeDocument/2006/relationships/image"/><Relationship Id="rId3" Target="../media/image4.png" Type="http://schemas.openxmlformats.org/officeDocument/2006/relationships/image"/><Relationship Id="rId4" Target="../media/image110.png" Type="http://schemas.openxmlformats.org/officeDocument/2006/relationships/image"/><Relationship Id="rId5" Target="../media/image111.pn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Relationship Id="rId8" Target="../media/image69.png" Type="http://schemas.openxmlformats.org/officeDocument/2006/relationships/image"/><Relationship Id="rId9" Target="../media/image114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8.png" Type="http://schemas.openxmlformats.org/officeDocument/2006/relationships/image"/><Relationship Id="rId11" Target="../media/image129.png" Type="http://schemas.openxmlformats.org/officeDocument/2006/relationships/image"/><Relationship Id="rId12" Target="../media/image130.png" Type="http://schemas.openxmlformats.org/officeDocument/2006/relationships/image"/><Relationship Id="rId13" Target="../media/image96.png" Type="http://schemas.openxmlformats.org/officeDocument/2006/relationships/image"/><Relationship Id="rId14" Target="../media/image76.png" Type="http://schemas.openxmlformats.org/officeDocument/2006/relationships/image"/><Relationship Id="rId15" Target="../media/image77.png" Type="http://schemas.openxmlformats.org/officeDocument/2006/relationships/image"/><Relationship Id="rId16" Target="../media/image131.png" Type="http://schemas.openxmlformats.org/officeDocument/2006/relationships/image"/><Relationship Id="rId17" Target="../media/image132.png" Type="http://schemas.openxmlformats.org/officeDocument/2006/relationships/image"/><Relationship Id="rId18" Target="../media/image133.png" Type="http://schemas.openxmlformats.org/officeDocument/2006/relationships/image"/><Relationship Id="rId19" Target="../media/image81.png" Type="http://schemas.openxmlformats.org/officeDocument/2006/relationships/image"/><Relationship Id="rId2" Target="../media/image1.png" Type="http://schemas.openxmlformats.org/officeDocument/2006/relationships/image"/><Relationship Id="rId20" Target="../media/image82.png" Type="http://schemas.openxmlformats.org/officeDocument/2006/relationships/image"/><Relationship Id="rId21" Target="../media/image134.png" Type="http://schemas.openxmlformats.org/officeDocument/2006/relationships/image"/><Relationship Id="rId22" Target="../media/image84.png" Type="http://schemas.openxmlformats.org/officeDocument/2006/relationships/image"/><Relationship Id="rId3" Target="../media/image4.png" Type="http://schemas.openxmlformats.org/officeDocument/2006/relationships/image"/><Relationship Id="rId4" Target="../media/image71.png" Type="http://schemas.openxmlformats.org/officeDocument/2006/relationships/image"/><Relationship Id="rId5" Target="../media/image124.png" Type="http://schemas.openxmlformats.org/officeDocument/2006/relationships/image"/><Relationship Id="rId6" Target="../media/image125.png" Type="http://schemas.openxmlformats.org/officeDocument/2006/relationships/image"/><Relationship Id="rId7" Target="../media/image126.png" Type="http://schemas.openxmlformats.org/officeDocument/2006/relationships/image"/><Relationship Id="rId8" Target="../media/image69.png" Type="http://schemas.openxmlformats.org/officeDocument/2006/relationships/image"/><Relationship Id="rId9" Target="../media/image127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9.png" Type="http://schemas.openxmlformats.org/officeDocument/2006/relationships/image"/><Relationship Id="rId11" Target="../media/image90.png" Type="http://schemas.openxmlformats.org/officeDocument/2006/relationships/image"/><Relationship Id="rId12" Target="../media/image140.png" Type="http://schemas.openxmlformats.org/officeDocument/2006/relationships/image"/><Relationship Id="rId13" Target="../media/image141.png" Type="http://schemas.openxmlformats.org/officeDocument/2006/relationships/image"/><Relationship Id="rId14" Target="../media/image76.png" Type="http://schemas.openxmlformats.org/officeDocument/2006/relationships/image"/><Relationship Id="rId15" Target="../media/image93.png" Type="http://schemas.openxmlformats.org/officeDocument/2006/relationships/image"/><Relationship Id="rId16" Target="../media/image142.png" Type="http://schemas.openxmlformats.org/officeDocument/2006/relationships/image"/><Relationship Id="rId17" Target="../media/image143.png" Type="http://schemas.openxmlformats.org/officeDocument/2006/relationships/image"/><Relationship Id="rId18" Target="../media/image144.png" Type="http://schemas.openxmlformats.org/officeDocument/2006/relationships/image"/><Relationship Id="rId19" Target="../media/image81.png" Type="http://schemas.openxmlformats.org/officeDocument/2006/relationships/image"/><Relationship Id="rId2" Target="../media/image1.png" Type="http://schemas.openxmlformats.org/officeDocument/2006/relationships/image"/><Relationship Id="rId20" Target="../media/image145.png" Type="http://schemas.openxmlformats.org/officeDocument/2006/relationships/image"/><Relationship Id="rId21" Target="../media/image98.png" Type="http://schemas.openxmlformats.org/officeDocument/2006/relationships/image"/><Relationship Id="rId22" Target="../media/image82.png" Type="http://schemas.openxmlformats.org/officeDocument/2006/relationships/image"/><Relationship Id="rId23" Target="../media/image146.png" Type="http://schemas.openxmlformats.org/officeDocument/2006/relationships/image"/><Relationship Id="rId3" Target="../media/image4.png" Type="http://schemas.openxmlformats.org/officeDocument/2006/relationships/image"/><Relationship Id="rId4" Target="../media/image71.png" Type="http://schemas.openxmlformats.org/officeDocument/2006/relationships/image"/><Relationship Id="rId5" Target="../media/image135.png" Type="http://schemas.openxmlformats.org/officeDocument/2006/relationships/image"/><Relationship Id="rId6" Target="../media/image136.png" Type="http://schemas.openxmlformats.org/officeDocument/2006/relationships/image"/><Relationship Id="rId7" Target="../media/image137.png" Type="http://schemas.openxmlformats.org/officeDocument/2006/relationships/image"/><Relationship Id="rId8" Target="../media/image69.png" Type="http://schemas.openxmlformats.org/officeDocument/2006/relationships/image"/><Relationship Id="rId9" Target="../media/image13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9.png" Type="http://schemas.openxmlformats.org/officeDocument/2006/relationships/image"/><Relationship Id="rId11" Target="../media/image150.png" Type="http://schemas.openxmlformats.org/officeDocument/2006/relationships/image"/><Relationship Id="rId12" Target="../media/image151.png" Type="http://schemas.openxmlformats.org/officeDocument/2006/relationships/image"/><Relationship Id="rId13" Target="../media/image152.png" Type="http://schemas.openxmlformats.org/officeDocument/2006/relationships/image"/><Relationship Id="rId14" Target="../media/image76.png" Type="http://schemas.openxmlformats.org/officeDocument/2006/relationships/image"/><Relationship Id="rId15" Target="../media/image93.png" Type="http://schemas.openxmlformats.org/officeDocument/2006/relationships/image"/><Relationship Id="rId16" Target="../media/image153.png" Type="http://schemas.openxmlformats.org/officeDocument/2006/relationships/image"/><Relationship Id="rId17" Target="../media/image79.png" Type="http://schemas.openxmlformats.org/officeDocument/2006/relationships/image"/><Relationship Id="rId18" Target="../media/image154.png" Type="http://schemas.openxmlformats.org/officeDocument/2006/relationships/image"/><Relationship Id="rId19" Target="../media/image81.png" Type="http://schemas.openxmlformats.org/officeDocument/2006/relationships/image"/><Relationship Id="rId2" Target="../media/image1.png" Type="http://schemas.openxmlformats.org/officeDocument/2006/relationships/image"/><Relationship Id="rId20" Target="../media/image82.png" Type="http://schemas.openxmlformats.org/officeDocument/2006/relationships/image"/><Relationship Id="rId21" Target="../media/image155.png" Type="http://schemas.openxmlformats.org/officeDocument/2006/relationships/image"/><Relationship Id="rId3" Target="../media/image4.png" Type="http://schemas.openxmlformats.org/officeDocument/2006/relationships/image"/><Relationship Id="rId4" Target="../media/image71.png" Type="http://schemas.openxmlformats.org/officeDocument/2006/relationships/image"/><Relationship Id="rId5" Target="../media/image66.png" Type="http://schemas.openxmlformats.org/officeDocument/2006/relationships/image"/><Relationship Id="rId6" Target="../media/image147.png" Type="http://schemas.openxmlformats.org/officeDocument/2006/relationships/image"/><Relationship Id="rId7" Target="../media/image68.png" Type="http://schemas.openxmlformats.org/officeDocument/2006/relationships/image"/><Relationship Id="rId8" Target="../media/image69.png" Type="http://schemas.openxmlformats.org/officeDocument/2006/relationships/image"/><Relationship Id="rId9" Target="../media/image148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04900" y="2108200"/>
            <a:ext cx="192659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 rot="0">
            <a:off x="1270000" y="11493500"/>
            <a:ext cx="21844000" cy="952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70000" y="2641600"/>
            <a:ext cx="173736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SemiBold"/>
              </a:rPr>
              <a:t>Movie Reservation System (DataBase)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0000" y="9512300"/>
            <a:ext cx="1498600" cy="1358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ea typeface="Pretendard Medium"/>
              </a:rPr>
              <a:t>발표자</a:t>
            </a:r>
          </a:p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ea typeface="Pretendard Medium"/>
              </a:rPr>
              <a:t>팀원</a:t>
            </a:r>
          </a:p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ea typeface="Pretendard Medium"/>
              </a:rPr>
              <a:t>일자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8600" y="9512300"/>
            <a:ext cx="6883400" cy="13589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ea typeface="Pretendard Regular"/>
              </a:rPr>
              <a:t>강태영</a:t>
            </a:r>
          </a:p>
          <a:p>
            <a:pPr algn="l" lvl="0">
              <a:lnSpc>
                <a:spcPct val="141100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왕규원</a:t>
            </a:r>
            <a:r>
              <a:rPr lang="en-US" sz="24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Pretendard Regular"/>
              </a:rPr>
              <a:t>이규현</a:t>
            </a:r>
          </a:p>
          <a:p>
            <a:pPr algn="l" lvl="0">
              <a:lnSpc>
                <a:spcPct val="141100"/>
              </a:lnSpc>
            </a:pPr>
            <a:r>
              <a:rPr lang="en" sz="2400" b="false" i="false" u="none" strike="noStrike">
                <a:solidFill>
                  <a:srgbClr val="000000"/>
                </a:solidFill>
                <a:latin typeface="Pretendard Regular"/>
              </a:rPr>
              <a:t>2025.12.12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3449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프로젝트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개요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및</a:t>
            </a:r>
            <a:r>
              <a:rPr lang="en-US" sz="6400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6400" b="false" i="false" u="none" strike="noStrike">
                <a:solidFill>
                  <a:srgbClr val="000000"/>
                </a:solidFill>
                <a:ea typeface="Pretendard SemiBold"/>
              </a:rPr>
              <a:t>목적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Introduction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145000" y="4038600"/>
            <a:ext cx="5486400" cy="160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73100" y="6146800"/>
            <a:ext cx="5486400" cy="2425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145000" y="9372600"/>
            <a:ext cx="5486400" cy="1816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574800" y="5537200"/>
            <a:ext cx="11328400" cy="5181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본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프로젝트는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영화관의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분석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하여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데이터베이스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설계한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시스템이다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42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 55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테이블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구성된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대규모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스키마를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수준의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복잡도를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다뤘다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67800" y="12623800"/>
            <a:ext cx="2679700" cy="330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출처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: </a:t>
            </a: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각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영화관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사이트</a:t>
            </a:r>
            <a:r>
              <a:rPr lang="en-US" sz="18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866" b="false" i="false" u="none" strike="noStrike">
                <a:solidFill>
                  <a:srgbClr val="000000"/>
                </a:solidFill>
                <a:ea typeface="Pretendard Regular"/>
              </a:rPr>
              <a:t>로고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Introduction : Service Flow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59000" y="8991600"/>
            <a:ext cx="27051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000000"/>
                </a:solidFill>
                <a:ea typeface="Pretendard Bold"/>
              </a:rPr>
              <a:t>영화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05800" y="8991600"/>
            <a:ext cx="27051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5333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3300" y="8991600"/>
            <a:ext cx="1371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ea typeface="Pretendard Bold"/>
              </a:rPr>
              <a:t>예약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28000" y="8991600"/>
            <a:ext cx="1371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ea typeface="Pretendard Bold"/>
              </a:rPr>
              <a:t>결제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52600" y="5448300"/>
            <a:ext cx="3314700" cy="3416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86700" y="6159500"/>
            <a:ext cx="3340100" cy="283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03300" y="5981700"/>
            <a:ext cx="3632200" cy="3632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824700" y="6426200"/>
            <a:ext cx="3175000" cy="209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537200" y="7289800"/>
            <a:ext cx="1879600" cy="101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531600" y="7289800"/>
            <a:ext cx="18796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513300" y="7073900"/>
            <a:ext cx="1879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Requirements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3449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400" b="false" i="false" u="none" strike="noStrike">
                <a:solidFill>
                  <a:srgbClr val="000000"/>
                </a:solidFill>
                <a:ea typeface="Pretendard SemiBold"/>
              </a:rPr>
              <a:t>목적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Requirements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5080000"/>
            <a:ext cx="11811000" cy="4597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" sz="3200" b="false" i="false" u="none" strike="noStrike">
                <a:solidFill>
                  <a:srgbClr val="000000"/>
                </a:solidFill>
                <a:latin typeface="Pretendard Regular"/>
              </a:rPr>
              <a:t>- </a:t>
            </a:r>
            <a:r>
              <a:rPr lang="en" sz="3200" b="tru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영화관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(CGV,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롯데시네마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의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" sz="3200" b="true" i="false" u="none" strike="noStrike">
                <a:solidFill>
                  <a:srgbClr val="000000"/>
                </a:solidFill>
                <a:ea typeface="Pretendard Regular"/>
              </a:rPr>
              <a:t>참고</a:t>
            </a:r>
          </a:p>
          <a:p>
            <a:pPr algn="l" lvl="0">
              <a:lnSpc>
                <a:spcPct val="14110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도메인을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구성하는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개념과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관계를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ERD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체계화</a:t>
            </a:r>
          </a:p>
          <a:p>
            <a:pPr algn="l" lvl="0">
              <a:lnSpc>
                <a:spcPct val="14110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
- Java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MySQL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활용하여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실제로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가능하도록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  <a:p>
            <a:pPr algn="l" lvl="0">
              <a:lnSpc>
                <a:spcPct val="141100"/>
              </a:lnSpc>
            </a:pPr>
            <a:r>
              <a:rPr lang="en" sz="3200" b="fals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무결성과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비즈니스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DB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수준에서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보장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하는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것을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목표로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함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135100" y="2070100"/>
            <a:ext cx="2476500" cy="247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777200" y="2120900"/>
            <a:ext cx="2565400" cy="256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62200" y="9550400"/>
            <a:ext cx="2463800" cy="246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434300" y="8356600"/>
            <a:ext cx="3251200" cy="325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47700" y="7658100"/>
            <a:ext cx="3429000" cy="3429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360900" y="5321300"/>
            <a:ext cx="2730500" cy="270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951700" y="4330700"/>
            <a:ext cx="965200" cy="774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776700" y="4305300"/>
            <a:ext cx="965200" cy="774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776700" y="8356600"/>
            <a:ext cx="965200" cy="774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951700" y="8356600"/>
            <a:ext cx="9652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3449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400" b="false" i="false" u="none" strike="noStrike">
                <a:solidFill>
                  <a:srgbClr val="000000"/>
                </a:solidFill>
                <a:ea typeface="Pretendard SemiBold"/>
              </a:rPr>
              <a:t>제약조건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Requirements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5080000"/>
            <a:ext cx="11811000" cy="5981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- Java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" sz="3200" b="tru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애플리케이션으로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(GUI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미제공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</a:p>
          <a:p>
            <a:pPr algn="l" lvl="0">
              <a:lnSpc>
                <a:spcPct val="14110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" sz="3200" b="true" i="false" u="none" strike="noStrike">
                <a:solidFill>
                  <a:srgbClr val="000000"/>
                </a:solidFill>
                <a:ea typeface="Pretendard Regular"/>
              </a:rPr>
              <a:t>로컬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MySQL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서버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환경에서만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실행</a:t>
            </a:r>
          </a:p>
          <a:p>
            <a:pPr algn="l" lvl="0">
              <a:lnSpc>
                <a:spcPct val="14110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제한된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개발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기간으로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인해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비즈니스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흐름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중심으로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  <a:p>
            <a:pPr algn="l" lvl="0">
              <a:lnSpc>
                <a:spcPct val="141100"/>
              </a:lnSpc>
            </a:pPr>
            <a:r>
              <a:rPr lang="en" sz="3200" b="fals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도메인만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기능으로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구현</a:t>
            </a:r>
          </a:p>
          <a:p>
            <a:pPr algn="l" lvl="0">
              <a:lnSpc>
                <a:spcPct val="141100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추천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매점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부가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기능은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설계에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포함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하되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구현은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제외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135100" y="2070100"/>
            <a:ext cx="2476500" cy="247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777200" y="2120900"/>
            <a:ext cx="2565400" cy="256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062200" y="9550400"/>
            <a:ext cx="2463800" cy="2463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434300" y="8356600"/>
            <a:ext cx="3251200" cy="325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47700" y="7658100"/>
            <a:ext cx="3429000" cy="3429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360900" y="5321300"/>
            <a:ext cx="2730500" cy="270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951700" y="4330700"/>
            <a:ext cx="965200" cy="774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776700" y="4305300"/>
            <a:ext cx="965200" cy="774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776700" y="8356600"/>
            <a:ext cx="965200" cy="774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951700" y="8356600"/>
            <a:ext cx="9652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Constraint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00" y="2235200"/>
            <a:ext cx="16484600" cy="5486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Constraint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78000" y="3530600"/>
            <a:ext cx="3403600" cy="2895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07300" y="2997200"/>
            <a:ext cx="3987800" cy="398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20800" y="3467100"/>
            <a:ext cx="32893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735800" y="3302000"/>
            <a:ext cx="3378200" cy="3378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588000" y="4660900"/>
            <a:ext cx="1866900" cy="635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658600" y="4660900"/>
            <a:ext cx="18669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526000" y="4660900"/>
            <a:ext cx="1866900" cy="635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641600" y="6502400"/>
            <a:ext cx="17526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latin typeface="Pretendard Bold"/>
              </a:rPr>
              <a:t>Main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18500" y="6502400"/>
            <a:ext cx="26035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latin typeface="Pretendard Bold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73300" y="6502400"/>
            <a:ext cx="16764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latin typeface="Pretendard Bold"/>
              </a:rPr>
              <a:t>DAO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701000" y="6502400"/>
            <a:ext cx="1104900" cy="952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5333" b="false" i="false" u="none" strike="noStrike">
                <a:solidFill>
                  <a:srgbClr val="000000"/>
                </a:solidFill>
                <a:latin typeface="Pretendard Bold"/>
              </a:rPr>
              <a:t>DB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3300" y="8026400"/>
            <a:ext cx="24384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787878"/>
                </a:solidFill>
                <a:latin typeface="Pretendard Bold"/>
              </a:rPr>
              <a:t>main.java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29500" y="8026400"/>
            <a:ext cx="43180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787878"/>
                </a:solidFill>
                <a:latin typeface="Pretendard Bold"/>
              </a:rPr>
              <a:t>\service\*service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90700" y="8026400"/>
            <a:ext cx="2590800" cy="711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4000" b="false" i="false" u="none" strike="noStrike">
                <a:solidFill>
                  <a:srgbClr val="787878"/>
                </a:solidFill>
                <a:latin typeface="Pretendard Bold"/>
              </a:rPr>
              <a:t>\dao\*dao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8600" y="9309100"/>
            <a:ext cx="20675600" cy="3517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UI,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로컬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DB,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개발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기간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제약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아래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DB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채택하였다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모바일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고도화된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 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대규모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트래픽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처리는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범위에서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제외하고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완성도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에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집중하였다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ctr" lvl="0">
              <a:lnSpc>
                <a:spcPct val="141100"/>
              </a:lnSpc>
            </a:pP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일부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스키마만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하고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구현을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false" i="false" u="none" strike="noStrike">
                <a:solidFill>
                  <a:srgbClr val="000000"/>
                </a:solidFill>
                <a:ea typeface="Pretendard Regular"/>
              </a:rPr>
              <a:t>생략하였다</a:t>
            </a:r>
            <a:r>
              <a:rPr lang="en-US" sz="42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ER 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전체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25800" y="2260600"/>
            <a:ext cx="18237200" cy="1071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4902200"/>
            <a:ext cx="8305800" cy="5067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선택부터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환불까지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책임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지는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시스템의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</a:p>
          <a:p>
            <a:pPr algn="l" lvl="0">
              <a:lnSpc>
                <a:spcPct val="141100"/>
              </a:lnSpc>
            </a:pPr>
            <a:br>
              <a:rPr/>
            </a:b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과정의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변화와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금액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산출을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관리하며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서비스의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구성</a:t>
            </a:r>
          </a:p>
          <a:p>
            <a:pPr algn="l" lvl="0">
              <a:lnSpc>
                <a:spcPct val="141100"/>
              </a:lnSpc>
            </a:pPr>
            <a:br>
              <a:rPr/>
            </a:b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환불까지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처리할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실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영화관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운영에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가까운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514600"/>
            <a:ext cx="13068300" cy="9956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5956300"/>
            <a:ext cx="8305800" cy="3086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-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(booking–booking_seat)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문제를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해소하고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
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금액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구성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(booking_charge)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으로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금액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세분화해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확장성을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확보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514600"/>
            <a:ext cx="13068300" cy="9956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1391900" y="9702800"/>
            <a:ext cx="8636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예약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0363200" y="8064500"/>
            <a:ext cx="4267200" cy="4406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407900" y="116713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예약</a:t>
            </a: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2057400" y="9309100"/>
            <a:ext cx="3060700" cy="2654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755900" y="110744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금액</a:t>
            </a: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구성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4991100"/>
            <a:ext cx="8305800" cy="3746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강화하는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중요한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‘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’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정보뿐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아니라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리뷰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선호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장르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추천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등이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포함되어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경험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개선과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재방문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유도에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직접적인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영향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2819400"/>
            <a:ext cx="13246100" cy="9334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51100" y="5956300"/>
            <a:ext cx="8305800" cy="3086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선호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리뷰를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독립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엔티티로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UX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기능을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단계적으로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확장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가능하게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설계했다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흐름과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느슨하게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연결해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유지보수성과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독립성을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높였다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33500" y="2819400"/>
            <a:ext cx="13246100" cy="9334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066800" y="2641600"/>
            <a:ext cx="3086100" cy="2628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828800" y="44577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333" b="false" i="false" u="none" strike="noStrike">
                <a:solidFill>
                  <a:srgbClr val="000000">
                    <a:alpha val="80000"/>
                  </a:srgbClr>
                </a:solidFill>
                <a:ea typeface="Pretendard Bold"/>
              </a:rPr>
              <a:t>선호</a:t>
            </a:r>
            <a:r>
              <a:rPr lang="en-US" sz="3333" b="false" i="false" u="none" strike="noStrike">
                <a:solidFill>
                  <a:srgbClr val="000000">
                    <a:alpha val="80000"/>
                  </a:srgbClr>
                </a:solidFill>
                <a:latin typeface="Pretendard Bold"/>
              </a:rPr>
              <a:t> </a:t>
            </a:r>
            <a:r>
              <a:rPr lang="ko-KR" sz="3333" b="false" i="false" u="none" strike="noStrike">
                <a:solidFill>
                  <a:srgbClr val="000000">
                    <a:alpha val="80000"/>
                  </a:srgbClr>
                </a:solidFill>
                <a:ea typeface="Pretendard Bold"/>
              </a:rPr>
              <a:t>장르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0375900" y="9042400"/>
            <a:ext cx="3086100" cy="2628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1137900" y="108458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회원</a:t>
            </a: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등급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1823700" y="4648200"/>
            <a:ext cx="3086100" cy="2628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760200" y="64262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리뷰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00300" y="5041900"/>
            <a:ext cx="8305800" cy="51816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가능해지기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필수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정보를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제공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한다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자체의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메타데이터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(2D/IMAX/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자막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),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시간표까지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모두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“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콘텐츠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스케줄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여부라는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형성한다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451100"/>
            <a:ext cx="13157200" cy="1036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125700" y="6096000"/>
            <a:ext cx="8305800" cy="3746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(movie)-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(movie_version)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2D/IMAX/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자막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증가에도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스키마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없이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확장이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가능하다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정보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(showtime)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상영관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조합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그대로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반영했다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2451100"/>
            <a:ext cx="13157200" cy="1036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5194300" y="5156200"/>
            <a:ext cx="3086100" cy="5334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5118100" y="68580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영화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18100" y="98425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버전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5181600" y="11087100"/>
            <a:ext cx="3086100" cy="2628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5943600" y="129032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상영정보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5295900"/>
            <a:ext cx="8305800" cy="43942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기능의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담당한다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  <a:p>
            <a:pPr algn="l" lvl="0">
              <a:lnSpc>
                <a:spcPct val="141100"/>
              </a:lnSpc>
            </a:pPr>
            <a:r>
              <a:rPr lang="en" sz="30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스크린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이어지는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계층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환경을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정의하고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screen_layout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screen_layout_master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통해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스크린별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템플릿을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유연하게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관리할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설계하였다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3263900"/>
            <a:ext cx="13360400" cy="8445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5956300"/>
            <a:ext cx="8305800" cy="3086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템플릿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(screen layout master)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스크린이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동일한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배치를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공유한다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(screen layout)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교체하여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유연성을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확보하였다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3263900"/>
            <a:ext cx="13360400" cy="844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4254500" y="5130800"/>
            <a:ext cx="8394700" cy="7378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191000" y="68580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상영관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91000" y="92202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04100" y="92202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템플릿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2000" y="6858000"/>
            <a:ext cx="16891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상영관</a:t>
            </a:r>
          </a:p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타입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91000" y="117221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2300" y="6858000"/>
            <a:ext cx="1689100" cy="1181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</a:p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타입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5956300"/>
            <a:ext cx="8305800" cy="3086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템플릿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(screen layout master)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스크린이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동일한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배치를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공유한다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배치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(screen layout)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교체하여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유연성을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확보하였다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극장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3263900"/>
            <a:ext cx="13360400" cy="8445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191000" y="68580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상영관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91000" y="92202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배치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4254500" y="5334000"/>
            <a:ext cx="3022600" cy="7086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191000" y="117221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00" y="2273300"/>
            <a:ext cx="22275800" cy="798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97200" y="10782300"/>
            <a:ext cx="18389600" cy="2413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단계에서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요금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할인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</a:p>
          <a:p>
            <a:pPr algn="ctr" lvl="0">
              <a:lnSpc>
                <a:spcPct val="141100"/>
              </a:lnSpc>
            </a:pPr>
            <a:br>
              <a:rPr/>
            </a:b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혜택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분리해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형태의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조합할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했으며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 </a:t>
            </a:r>
          </a:p>
          <a:p>
            <a:pPr algn="ctr" lvl="0">
              <a:lnSpc>
                <a:spcPct val="141100"/>
              </a:lnSpc>
            </a:pP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(price_rule)-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(price_rule_applies)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스크린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정책을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유연하게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0000" y="2273300"/>
            <a:ext cx="22275800" cy="7988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997200" y="10782300"/>
            <a:ext cx="18389600" cy="2413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단계에서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다양한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요금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할인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</a:p>
          <a:p>
            <a:pPr algn="ctr" lvl="0">
              <a:lnSpc>
                <a:spcPct val="141100"/>
              </a:lnSpc>
            </a:pPr>
            <a:br>
              <a:rPr/>
            </a:b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조건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혜택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분리해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형태의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쿠폰을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조합할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있도록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했으며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 </a:t>
            </a:r>
          </a:p>
          <a:p>
            <a:pPr algn="ctr" lvl="0">
              <a:lnSpc>
                <a:spcPct val="141100"/>
              </a:lnSpc>
            </a:pP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(price_rule)-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적용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(price_rule_applies)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스크린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정책을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유연하게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&amp;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18427700" y="4165600"/>
            <a:ext cx="5105400" cy="5956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8605500" y="86868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가격</a:t>
            </a: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정책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05500" y="49657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가격</a:t>
            </a:r>
            <a:r>
              <a:rPr lang="en-US" sz="3333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333" b="false" i="false" u="none" strike="noStrike">
                <a:solidFill>
                  <a:srgbClr val="000000"/>
                </a:solidFill>
                <a:ea typeface="Pretendard Bold"/>
              </a:rPr>
              <a:t>적용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0668000" y="3441700"/>
            <a:ext cx="4635500" cy="5956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3677900" y="43815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타입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77900" y="62611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혜택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77900" y="8153400"/>
            <a:ext cx="1689100" cy="5969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333" b="false" i="false" u="none" strike="noStrike">
                <a:solidFill>
                  <a:srgbClr val="000000"/>
                </a:solidFill>
                <a:ea typeface="Pretendard Bold"/>
              </a:rPr>
              <a:t>조건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909800" y="6159500"/>
            <a:ext cx="8305800" cy="31877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스낵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주문은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예매와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독립된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비핵심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기능의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영향도가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도메인에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전파되지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않도록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분리했다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
audit_log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와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notification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공통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도메인으로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배치해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전체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가능하게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true" i="false" u="none" strike="noStrike">
                <a:solidFill>
                  <a:srgbClr val="000000"/>
                </a:solidFill>
                <a:ea typeface="Pretendard Regular"/>
              </a:rPr>
              <a:t>했다</a:t>
            </a:r>
            <a:r>
              <a:rPr lang="en-US" sz="3066" b="tru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ERD :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매점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/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Detail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00700" y="6756400"/>
            <a:ext cx="7988300" cy="186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06600" y="2730500"/>
            <a:ext cx="2451100" cy="9944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Demonstration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05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27100" y="7061200"/>
            <a:ext cx="22542500" cy="952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"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사용자가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서비스를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이용하는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실제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절차를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중심으로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sz="5333" b="false" i="false" u="none" strike="noStrike">
                <a:solidFill>
                  <a:srgbClr val="000000"/>
                </a:solidFill>
                <a:ea typeface="Pretendard SemiBold"/>
              </a:rPr>
              <a:t>구성</a:t>
            </a:r>
            <a:r>
              <a:rPr lang="en-US" sz="5333" b="false" i="false" u="none" strike="noStrike">
                <a:solidFill>
                  <a:srgbClr val="000000"/>
                </a:solidFill>
                <a:latin typeface="Pretendard SemiBold"/>
              </a:rPr>
              <a:t>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Demonstration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Demonstration : Menu 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로그인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탐색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예약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생성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5130800"/>
            <a:ext cx="7137400" cy="5321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65100" y="5130800"/>
            <a:ext cx="9334500" cy="5321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25000" y="7023100"/>
            <a:ext cx="31369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Demonstration : 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Menu 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로그인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탐색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예약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생성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81200" y="2730500"/>
            <a:ext cx="7340600" cy="9994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135100" y="2730500"/>
            <a:ext cx="8267700" cy="999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0" y="6832600"/>
            <a:ext cx="3136900" cy="180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rot="0">
            <a:off x="14135100" y="7874000"/>
            <a:ext cx="8191500" cy="4851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0">
            <a:off x="15621000" y="10299700"/>
            <a:ext cx="9779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Demonstration : 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Menu 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로그인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탐색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예약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생성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94600" y="2921000"/>
            <a:ext cx="9194800" cy="10007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7670800" y="9232900"/>
            <a:ext cx="89916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Demonstration : 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Menu 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로그인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탐색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선택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예약</a:t>
            </a:r>
            <a:r>
              <a:rPr lang="en-US" sz="4000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4000" b="false" i="false" u="none" strike="noStrike">
                <a:solidFill>
                  <a:srgbClr val="787878"/>
                </a:solidFill>
                <a:ea typeface="Pretendard Regular"/>
              </a:rPr>
              <a:t>생성</a:t>
            </a:r>
            <a:r>
              <a:rPr lang="en-US" sz="4000" b="false" i="false" u="none" strike="noStrike">
                <a:solidFill>
                  <a:srgbClr val="000000"/>
                </a:solidFill>
                <a:latin typeface="Pretendard Regular"/>
              </a:rPr>
              <a:t> → </a:t>
            </a:r>
            <a:r>
              <a:rPr lang="ko-KR" sz="4000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51600" y="3606800"/>
            <a:ext cx="11468100" cy="830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7023100" y="7670800"/>
            <a:ext cx="2794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To Support The 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06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00" y="2501900"/>
            <a:ext cx="11277600" cy="10350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1) booking / booking_seat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분리로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해소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관리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흐름의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원칙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2)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전환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(trg_payment_after_insert)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INSERT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CONFIRMED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갱신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+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3)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(fn_calc_refund_amount)
→ 20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여부에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따라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금액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4)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상태변경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로그를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하나로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묶는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절차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(sp_cancel_booking_with_refund)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처리의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원자성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(Atomicity)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위해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흐름으로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가능하도록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5) hold_seat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중복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방지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메커니즘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선점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(hold)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및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만료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정리로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대응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76200" y="2832100"/>
            <a:ext cx="11277600" cy="9690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6)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(Movie) -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버전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(MovieVersion)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타입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(2D/IMAX/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자막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증가에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대비한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확장성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7) showtime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여러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)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연결되는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허브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엔티티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연결하는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8) member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도메인의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세분화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(tier·role·login_history·preference)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운영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확장성을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고려한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9)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(audit_log)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통한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모든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예약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보존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트리거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기록으로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무결성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보강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
10)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부분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복합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확장을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위한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중간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엔티티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도입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가능성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언급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현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버전은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결제지만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스키마는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확장성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기반으로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000000"/>
                </a:solidFill>
                <a:ea typeface="Pretendard Regular"/>
              </a:rPr>
              <a:t>설계됨</a:t>
            </a:r>
            <a:r>
              <a:rPr lang="en-US" sz="3066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2800" y="2501900"/>
            <a:ext cx="11277600" cy="10477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1) booking / booking_seat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분리로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다대다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해소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이력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관리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흐름의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설계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원칙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2)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전환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(trg_payment_after_insert)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INSERT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CONFIRMED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갱신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+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감사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로그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3)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계산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(fn_calc_refund_amount)
→ 20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여부에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따라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금액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계산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4)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상태변경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로그를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하나로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묶는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절차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(sp_cancel_booking_with_refund)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처리의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원자성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(Atomicity)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위해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단일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흐름으로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처리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가능하도록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설계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5) hold_seat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중복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방지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메커니즘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선점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(hold)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만료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정리로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동시성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문제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대응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76200" y="2832100"/>
            <a:ext cx="11277600" cy="98171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6)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(Movie) -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버전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(MovieVersion)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분리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타입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(2D/IMAX/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자막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증가에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대비한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확장성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7) showtime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이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여러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도메인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가격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)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연결되는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핵심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허브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엔티티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도메인과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영화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상영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좌석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정책을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연결하는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중심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역할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8) member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도메인의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세분화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(tier·role·login_history·preference)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서비스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운영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확장성을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고려한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정규화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구조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9)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감사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로그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(audit_log)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통한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모든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예약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/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변경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이력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보존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상태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변경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트리거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기반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기록으로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무결성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보강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
10)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부분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환불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·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복합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확장을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위한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중간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엔티티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도입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가능성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언급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
→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현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버전은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단일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결제지만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스키마는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확장성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기반으로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066" b="false" i="false" u="none" strike="noStrike">
                <a:solidFill>
                  <a:srgbClr val="787878"/>
                </a:solidFill>
                <a:ea typeface="Pretendard Regular"/>
              </a:rPr>
              <a:t>설계됨</a:t>
            </a:r>
            <a:r>
              <a:rPr lang="en-US" sz="3066" b="false" i="false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/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>
                    <a:alpha val="30196"/>
                  </a:srgbClr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alphaModFix amt="30000"/>
          </a:blip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alphaModFix amt="30000"/>
          </a:blip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alphaModFix amt="30000"/>
          </a:blip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>
            <a:alphaModFix amt="30000"/>
          </a:blip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>
            <a:alphaModFix amt="30000"/>
          </a:blip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>
            <a:alphaModFix amt="30000"/>
          </a:blip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>
                    <a:alpha val="30196"/>
                  </a:srgbClr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1">
            <a:alphaModFix amt="30000"/>
          </a:blip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>
            <a:alphaModFix amt="30000"/>
          </a:blip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2">
            <a:alphaModFix amt="30000"/>
          </a:blip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>
                    <a:alpha val="30196"/>
                  </a:srgbClr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>
                    <a:alpha val="30196"/>
                  </a:srgbClr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/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1295400"/>
            <a:ext cx="21678900" cy="762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To Support The Flow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54600" y="5778500"/>
            <a:ext cx="42545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90900" y="3632200"/>
            <a:ext cx="2413000" cy="140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641600" y="2501900"/>
            <a:ext cx="2717800" cy="140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515100" y="3302000"/>
            <a:ext cx="1473200" cy="850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537200" y="5880100"/>
            <a:ext cx="33147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회원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등급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–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역할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login_history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저장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1006">
            <a:off x="6159500" y="4699000"/>
            <a:ext cx="2057400" cy="114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64600" y="2768600"/>
            <a:ext cx="2273300" cy="20193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022600" y="5041900"/>
            <a:ext cx="29083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로그인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/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회원가입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10600" y="50419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영화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상영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탐색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93400" y="5778500"/>
            <a:ext cx="42545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41200" y="3302000"/>
            <a:ext cx="1473200" cy="850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655300" y="5880100"/>
            <a:ext cx="4343400" cy="8001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(Movie–MovieVersion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상영스케줄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(Showtime)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798300" y="4699000"/>
            <a:ext cx="2057400" cy="114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503400" y="2768600"/>
            <a:ext cx="3175000" cy="20193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4668500" y="50546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좌석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선택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7945100" y="6045200"/>
            <a:ext cx="3911600" cy="2425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15354300" y="6845300"/>
            <a:ext cx="1473200" cy="850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7703800" y="6235700"/>
            <a:ext cx="4343400" cy="20447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2045" b="true" i="false" u="none" strike="noStrike">
                <a:solidFill>
                  <a:srgbClr val="000000"/>
                </a:solidFill>
                <a:latin typeface="Pretendard Regular"/>
              </a:rPr>
              <a:t>- fn_get_final_price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시간대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즉시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계산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price_rule / price_rule_applies</a:t>
            </a:r>
          </a:p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조합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)
- hold_seat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기반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제어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6078200" y="7213600"/>
            <a:ext cx="1854200" cy="114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445500" y="8953500"/>
            <a:ext cx="3276600" cy="2146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4376400" y="8610600"/>
            <a:ext cx="2832100" cy="2832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743200" y="8470900"/>
            <a:ext cx="3060700" cy="30607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2077700" y="9601200"/>
            <a:ext cx="1473200" cy="850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2065000" y="9182100"/>
            <a:ext cx="15240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693400" y="6959600"/>
            <a:ext cx="42545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6553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booking / booking_seat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분리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다대다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관계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해소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이력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추적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구조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685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예매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852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en" sz="3181" b="false" i="false" u="none" strike="noStrike">
                <a:solidFill>
                  <a:srgbClr val="000000"/>
                </a:solidFill>
                <a:ea typeface="Pretendard Bold"/>
              </a:rPr>
              <a:t>결제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451600" y="9601200"/>
            <a:ext cx="1473200" cy="850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6426200" y="9182100"/>
            <a:ext cx="1524000" cy="114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054600" y="6959600"/>
            <a:ext cx="4254500" cy="15240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5016500" y="7124700"/>
            <a:ext cx="4343400" cy="11938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- trg_payment_after_insert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자동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확정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
-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감사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로그</a:t>
            </a:r>
            <a:r>
              <a:rPr lang="en-US" sz="2045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45" b="true" i="false" u="none" strike="noStrike">
                <a:solidFill>
                  <a:srgbClr val="000000"/>
                </a:solidFill>
                <a:ea typeface="Pretendard Regular"/>
              </a:rPr>
              <a:t>기록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44800" y="11569700"/>
            <a:ext cx="2844800" cy="5715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16199"/>
              </a:lnSpc>
            </a:pP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취소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3181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3181" b="false" i="false" u="none" strike="noStrike">
                <a:solidFill>
                  <a:srgbClr val="000000"/>
                </a:solidFill>
                <a:ea typeface="Pretendard Bold"/>
              </a:rPr>
              <a:t>환불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49500" y="12319000"/>
            <a:ext cx="3695700" cy="10160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41100"/>
              </a:lnSpc>
            </a:pPr>
            <a:r>
              <a:rPr lang="en" sz="1740" b="true" i="false" u="none" strike="noStrike">
                <a:solidFill>
                  <a:srgbClr val="000000"/>
                </a:solidFill>
                <a:latin typeface="Pretendard Regular"/>
              </a:rPr>
              <a:t>- fn_calc_refund_amount
- sp_cancel_booking_with_refund</a:t>
            </a:r>
          </a:p>
          <a:p>
            <a:pPr algn="ctr" lvl="0">
              <a:lnSpc>
                <a:spcPct val="141100"/>
              </a:lnSpc>
            </a:pP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- refund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함수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프로시저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174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740" b="tru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425700" y="12179300"/>
            <a:ext cx="36195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70000" y="8521700"/>
            <a:ext cx="22136100" cy="1422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8000" b="false" i="false" u="none" strike="noStrike">
                <a:solidFill>
                  <a:srgbClr val="000000"/>
                </a:solidFill>
                <a:latin typeface="Pretendard SemiBold"/>
              </a:rPr>
              <a:t>Conclusion &amp; Limitation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7823200"/>
            <a:ext cx="21958300" cy="635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3600" b="false" i="false" u="none" strike="noStrike">
                <a:solidFill>
                  <a:srgbClr val="000000">
                    <a:alpha val="40000"/>
                  </a:srgbClr>
                </a:solidFill>
                <a:latin typeface="Pretendard Regular"/>
              </a:rPr>
              <a:t>Section 08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4211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400" b="false" i="false" u="none" strike="noStrike">
                <a:solidFill>
                  <a:srgbClr val="000000"/>
                </a:solidFill>
                <a:ea typeface="Pretendard SemiBold"/>
              </a:rPr>
              <a:t>어려움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8600" y="6210300"/>
            <a:ext cx="10071100" cy="4013200"/>
          </a:xfrm>
          <a:prstGeom prst="rect">
            <a:avLst/>
          </a:prstGeom>
        </p:spPr>
        <p:txBody>
          <a:bodyPr anchor="t" rtlCol="false"/>
          <a:lstStyle/>
          <a:p>
            <a:pPr algn="ctr" lvl="0">
              <a:lnSpc>
                <a:spcPct val="124499"/>
              </a:lnSpc>
            </a:pP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Optional
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설계가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진행될수록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증가한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테이블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
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사용자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흐름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뒤의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내부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로직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4266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4266" b="true" i="false" u="none" strike="noStrike">
                <a:solidFill>
                  <a:srgbClr val="000000"/>
                </a:solidFill>
                <a:latin typeface="Pretendard Regular"/>
              </a:rPr>
              <a:t> </a:t>
            </a:r>
            <a:r>
              <a:rPr lang="en" sz="4266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0" y="6121400"/>
            <a:ext cx="10896600" cy="4191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24499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항상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존재하지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않는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요소들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(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쿠폰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할인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) 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별도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엔터티로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분리해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필요한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경우에만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연결하도록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재설계</a:t>
            </a:r>
            <a:b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</a:br>
            <a:r>
              <a:rPr lang="en" sz="3200" b="tru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도메인별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역할을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명확히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나누는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구조로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정리</a:t>
            </a:r>
            <a:b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</a:br>
            <a:b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</a:b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서비스에서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아이디어를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false" i="false" u="none" strike="noStrike">
                <a:solidFill>
                  <a:srgbClr val="000000"/>
                </a:solidFill>
                <a:ea typeface="Pretendard Regular"/>
              </a:rPr>
              <a:t>얻었기에</a:t>
            </a: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데이터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관점에서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다시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해석후</a:t>
            </a:r>
            <a:r>
              <a:rPr lang="en-US" sz="32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200" b="true" i="false" u="none" strike="noStrike">
                <a:solidFill>
                  <a:srgbClr val="000000"/>
                </a:solidFill>
                <a:ea typeface="Pretendard Regular"/>
              </a:rPr>
              <a:t>재설계</a:t>
            </a:r>
            <a:r>
              <a:rPr lang="en" sz="2933" b="false" i="false" u="none" strike="noStrike">
                <a:solidFill>
                  <a:srgbClr val="000000"/>
                </a:solidFill>
                <a:latin typeface="Pretendard Regular"/>
              </a:rPr>
              <a:t/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4211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400" b="false" i="false" u="none" strike="noStrike">
                <a:solidFill>
                  <a:srgbClr val="000000"/>
                </a:solidFill>
                <a:ea typeface="Pretendard SemiBold"/>
              </a:rPr>
              <a:t>한계점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4800" y="4927600"/>
            <a:ext cx="21348700" cy="53213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콘솔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단일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로컬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DB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인해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실제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서비스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수준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구현은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" sz="3733" b="true" i="false" u="none" strike="noStrike">
                <a:solidFill>
                  <a:srgbClr val="000000"/>
                </a:solidFill>
                <a:ea typeface="Pretendard Regular"/>
              </a:rPr>
              <a:t>제한적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이었다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웹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/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모바일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환경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고도화된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트랜잭션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대규모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트래픽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처리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범위에서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" sz="3733" b="true" i="false" u="none" strike="noStrike">
                <a:solidFill>
                  <a:srgbClr val="000000"/>
                </a:solidFill>
                <a:ea typeface="Pretendard Regular"/>
              </a:rPr>
              <a:t>제외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되어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아쉬움이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남는다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일부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도메인은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스키마만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하고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구현을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생략하여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기능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흐름을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완전히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검증하기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어렵다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확장성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는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시도했으나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실운영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기준의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복잡한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·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연동은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포함되지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못했다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70000" y="1333500"/>
            <a:ext cx="127000" cy="635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74800" y="3403600"/>
            <a:ext cx="14211300" cy="11430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16199"/>
              </a:lnSpc>
            </a:pPr>
            <a:r>
              <a:rPr lang="en" sz="6400" b="false" i="false" u="none" strike="noStrike">
                <a:solidFill>
                  <a:srgbClr val="000000"/>
                </a:solidFill>
                <a:ea typeface="Pretendard SemiBold"/>
              </a:rPr>
              <a:t>결론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800" y="1295400"/>
            <a:ext cx="21678900" cy="7747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107899"/>
              </a:lnSpc>
            </a:pPr>
            <a:r>
              <a:rPr lang="en" sz="4000" b="false" i="false" u="none" strike="noStrike">
                <a:solidFill>
                  <a:srgbClr val="000000"/>
                </a:solidFill>
                <a:latin typeface="Pretendard Regular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7500" y="5003800"/>
            <a:ext cx="21348700" cy="3708400"/>
          </a:xfrm>
          <a:prstGeom prst="rect">
            <a:avLst/>
          </a:prstGeom>
        </p:spPr>
        <p:txBody>
          <a:bodyPr anchor="t" rtlCol="false"/>
          <a:lstStyle/>
          <a:p>
            <a:pPr algn="l" lvl="0">
              <a:lnSpc>
                <a:spcPct val="141100"/>
              </a:lnSpc>
            </a:pP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주어진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제약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속에서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도메인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구조화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정규화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일반화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중심으로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완성도를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높였다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b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</a:b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가격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정책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좌석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동시성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환불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규정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등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핵심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비즈니스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DB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가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일관성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있게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처리하도록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구성했다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
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결과적으로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범위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내에서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DB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중심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영화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예매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시스템</a:t>
            </a:r>
            <a:r>
              <a:rPr lang="en-US" sz="3733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true" i="false" u="none" strike="noStrike">
                <a:solidFill>
                  <a:srgbClr val="000000"/>
                </a:solidFill>
                <a:ea typeface="Pretendard Regular"/>
              </a:rPr>
              <a:t>설계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라는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목표를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충실히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733" b="false" i="false" u="none" strike="noStrike">
                <a:solidFill>
                  <a:srgbClr val="000000"/>
                </a:solidFill>
                <a:ea typeface="Pretendard Regular"/>
              </a:rPr>
              <a:t>달성하였다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850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756900" y="6845300"/>
            <a:ext cx="20828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683000" y="6261100"/>
            <a:ext cx="10579100" cy="1295400"/>
          </a:xfrm>
          <a:prstGeom prst="rect">
            <a:avLst/>
          </a:prstGeom>
        </p:spPr>
        <p:txBody>
          <a:bodyPr anchor="t" rtlCol="false" lIns="0" tIns="42333" rIns="0" bIns="0"/>
          <a:lstStyle/>
          <a:p>
            <a:pPr algn="ctr" lvl="0">
              <a:lnSpc>
                <a:spcPct val="107899"/>
              </a:lnSpc>
            </a:pPr>
            <a:r>
              <a:rPr lang="en" sz="6666" b="false" i="false" u="none" strike="noStrike">
                <a:solidFill>
                  <a:srgbClr val="000000">
                    <a:alpha val="45098"/>
                  </a:srgbClr>
                </a:solidFill>
                <a:latin typeface="Pretendard SemiBold"/>
              </a:rPr>
              <a:t>DB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92000" y="5981700"/>
            <a:ext cx="11404600" cy="1752600"/>
          </a:xfrm>
          <a:prstGeom prst="rect">
            <a:avLst/>
          </a:prstGeom>
        </p:spPr>
        <p:txBody>
          <a:bodyPr anchor="t" rtlCol="false" lIns="0" tIns="62654" rIns="0" bIns="0"/>
          <a:lstStyle/>
          <a:p>
            <a:pPr algn="l" lvl="0">
              <a:lnSpc>
                <a:spcPct val="107899"/>
              </a:lnSpc>
            </a:pPr>
            <a:r>
              <a:rPr lang="en" sz="9866" b="false" i="false" u="none" strike="noStrike">
                <a:solidFill>
                  <a:srgbClr val="000000"/>
                </a:solidFill>
                <a:latin typeface="Pretendard Semi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
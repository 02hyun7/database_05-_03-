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24384000" cy="13716000"/>
  <p:notesSz cx="6858000" cy="9144000"/>
  <p:embeddedFontLst>
    <p:embeddedFont>
      <p:font typeface="Pretendard Regular"/>
      <p:regular r:id="rId54"/>
    </p:embeddedFont>
    <p:embeddedFont>
      <p:font typeface="Pretendard Medium"/>
      <p:bold r:id="rId55"/>
    </p:embeddedFont>
    <p:embeddedFont>
      <p:font typeface="Pretendard SemiBold"/>
      <p:bold r:id="rId56"/>
    </p:embeddedFont>
    <p:embeddedFont>
      <p:font typeface="Pretendard Bold"/>
      <p:bold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fonts/font1.fntdata" Type="http://schemas.openxmlformats.org/officeDocument/2006/relationships/font"/><Relationship Id="rId55" Target="fonts/font2.fntdata" Type="http://schemas.openxmlformats.org/officeDocument/2006/relationships/font"/><Relationship Id="rId56" Target="fonts/font3.fntdata" Type="http://schemas.openxmlformats.org/officeDocument/2006/relationships/font"/><Relationship Id="rId57" Target="fonts/font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44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69.png" Type="http://schemas.openxmlformats.org/officeDocument/2006/relationships/image"/><Relationship Id="rId17" Target="../media/image70.png" Type="http://schemas.openxmlformats.org/officeDocument/2006/relationships/image"/><Relationship Id="rId18" Target="../media/image71.png" Type="http://schemas.openxmlformats.org/officeDocument/2006/relationships/image"/><Relationship Id="rId19" Target="../media/image72.png" Type="http://schemas.openxmlformats.org/officeDocument/2006/relationships/image"/><Relationship Id="rId2" Target="../media/image1.png" Type="http://schemas.openxmlformats.org/officeDocument/2006/relationships/image"/><Relationship Id="rId20" Target="../media/image73.png" Type="http://schemas.openxmlformats.org/officeDocument/2006/relationships/image"/><Relationship Id="rId21" Target="../media/image74.png" Type="http://schemas.openxmlformats.org/officeDocument/2006/relationships/image"/><Relationship Id="rId3" Target="../media/image5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80.png" Type="http://schemas.openxmlformats.org/officeDocument/2006/relationships/image"/><Relationship Id="rId12" Target="../media/image81.png" Type="http://schemas.openxmlformats.org/officeDocument/2006/relationships/image"/><Relationship Id="rId13" Target="../media/image82.png" Type="http://schemas.openxmlformats.org/officeDocument/2006/relationships/image"/><Relationship Id="rId14" Target="../media/image83.png" Type="http://schemas.openxmlformats.org/officeDocument/2006/relationships/image"/><Relationship Id="rId15" Target="../media/image67.png" Type="http://schemas.openxmlformats.org/officeDocument/2006/relationships/image"/><Relationship Id="rId16" Target="../media/image84.png" Type="http://schemas.openxmlformats.org/officeDocument/2006/relationships/image"/><Relationship Id="rId17" Target="../media/image85.png" Type="http://schemas.openxmlformats.org/officeDocument/2006/relationships/image"/><Relationship Id="rId18" Target="../media/image70.png" Type="http://schemas.openxmlformats.org/officeDocument/2006/relationships/image"/><Relationship Id="rId19" Target="../media/image86.png" Type="http://schemas.openxmlformats.org/officeDocument/2006/relationships/image"/><Relationship Id="rId2" Target="../media/image1.png" Type="http://schemas.openxmlformats.org/officeDocument/2006/relationships/image"/><Relationship Id="rId20" Target="../media/image72.png" Type="http://schemas.openxmlformats.org/officeDocument/2006/relationships/image"/><Relationship Id="rId21" Target="../media/image73.png" Type="http://schemas.openxmlformats.org/officeDocument/2006/relationships/image"/><Relationship Id="rId22" Target="../media/image87.png" Type="http://schemas.openxmlformats.org/officeDocument/2006/relationships/image"/><Relationship Id="rId23" Target="../media/image88.png" Type="http://schemas.openxmlformats.org/officeDocument/2006/relationships/image"/><Relationship Id="rId3" Target="../media/image5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Relationship Id="rId8" Target="../media/image61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png" Type="http://schemas.openxmlformats.org/officeDocument/2006/relationships/image"/><Relationship Id="rId12" Target="../media/image95.png" Type="http://schemas.openxmlformats.org/officeDocument/2006/relationships/image"/><Relationship Id="rId13" Target="../media/image96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97.png" Type="http://schemas.openxmlformats.org/officeDocument/2006/relationships/image"/><Relationship Id="rId17" Target="../media/image98.png" Type="http://schemas.openxmlformats.org/officeDocument/2006/relationships/image"/><Relationship Id="rId18" Target="../media/image99.png" Type="http://schemas.openxmlformats.org/officeDocument/2006/relationships/image"/><Relationship Id="rId19" Target="../media/image72.png" Type="http://schemas.openxmlformats.org/officeDocument/2006/relationships/image"/><Relationship Id="rId2" Target="../media/image1.png" Type="http://schemas.openxmlformats.org/officeDocument/2006/relationships/image"/><Relationship Id="rId20" Target="../media/image100.png" Type="http://schemas.openxmlformats.org/officeDocument/2006/relationships/image"/><Relationship Id="rId21" Target="../media/image101.png" Type="http://schemas.openxmlformats.org/officeDocument/2006/relationships/image"/><Relationship Id="rId22" Target="../media/image73.png" Type="http://schemas.openxmlformats.org/officeDocument/2006/relationships/image"/><Relationship Id="rId23" Target="../media/image88.png" Type="http://schemas.openxmlformats.org/officeDocument/2006/relationships/image"/><Relationship Id="rId3" Target="../media/image5.png" Type="http://schemas.openxmlformats.org/officeDocument/2006/relationships/image"/><Relationship Id="rId4" Target="../media/image57.png" Type="http://schemas.openxmlformats.org/officeDocument/2006/relationships/image"/><Relationship Id="rId5" Target="../media/image89.png" Type="http://schemas.openxmlformats.org/officeDocument/2006/relationships/image"/><Relationship Id="rId6" Target="../media/image90.png" Type="http://schemas.openxmlformats.org/officeDocument/2006/relationships/image"/><Relationship Id="rId7" Target="../media/image91.png" Type="http://schemas.openxmlformats.org/officeDocument/2006/relationships/image"/><Relationship Id="rId8" Target="../media/image61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png" Type="http://schemas.openxmlformats.org/officeDocument/2006/relationships/image"/><Relationship Id="rId12" Target="../media/image107.png" Type="http://schemas.openxmlformats.org/officeDocument/2006/relationships/image"/><Relationship Id="rId13" Target="../media/image108.png" Type="http://schemas.openxmlformats.org/officeDocument/2006/relationships/image"/><Relationship Id="rId14" Target="../media/image67.png" Type="http://schemas.openxmlformats.org/officeDocument/2006/relationships/image"/><Relationship Id="rId15" Target="../media/image84.png" Type="http://schemas.openxmlformats.org/officeDocument/2006/relationships/image"/><Relationship Id="rId16" Target="../media/image109.png" Type="http://schemas.openxmlformats.org/officeDocument/2006/relationships/image"/><Relationship Id="rId17" Target="../media/image110.png" Type="http://schemas.openxmlformats.org/officeDocument/2006/relationships/image"/><Relationship Id="rId18" Target="../media/image111.png" Type="http://schemas.openxmlformats.org/officeDocument/2006/relationships/image"/><Relationship Id="rId19" Target="../media/image72.png" Type="http://schemas.openxmlformats.org/officeDocument/2006/relationships/image"/><Relationship Id="rId2" Target="../media/image1.png" Type="http://schemas.openxmlformats.org/officeDocument/2006/relationships/image"/><Relationship Id="rId20" Target="../media/image73.png" Type="http://schemas.openxmlformats.org/officeDocument/2006/relationships/image"/><Relationship Id="rId21" Target="../media/image112.png" Type="http://schemas.openxmlformats.org/officeDocument/2006/relationships/image"/><Relationship Id="rId22" Target="../media/image88.png" Type="http://schemas.openxmlformats.org/officeDocument/2006/relationships/image"/><Relationship Id="rId3" Target="../media/image5.png" Type="http://schemas.openxmlformats.org/officeDocument/2006/relationships/image"/><Relationship Id="rId4" Target="../media/image57.png" Type="http://schemas.openxmlformats.org/officeDocument/2006/relationships/image"/><Relationship Id="rId5" Target="../media/image102.png" Type="http://schemas.openxmlformats.org/officeDocument/2006/relationships/image"/><Relationship Id="rId6" Target="../media/image103.png" Type="http://schemas.openxmlformats.org/officeDocument/2006/relationships/image"/><Relationship Id="rId7" Target="../media/image78.png" Type="http://schemas.openxmlformats.org/officeDocument/2006/relationships/image"/><Relationship Id="rId8" Target="../media/image61.pn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118.png" Type="http://schemas.openxmlformats.org/officeDocument/2006/relationships/image"/><Relationship Id="rId12" Target="../media/image119.png" Type="http://schemas.openxmlformats.org/officeDocument/2006/relationships/image"/><Relationship Id="rId13" Target="../media/image120.png" Type="http://schemas.openxmlformats.org/officeDocument/2006/relationships/image"/><Relationship Id="rId14" Target="../media/image67.png" Type="http://schemas.openxmlformats.org/officeDocument/2006/relationships/image"/><Relationship Id="rId15" Target="../media/image84.png" Type="http://schemas.openxmlformats.org/officeDocument/2006/relationships/image"/><Relationship Id="rId16" Target="../media/image121.png" Type="http://schemas.openxmlformats.org/officeDocument/2006/relationships/image"/><Relationship Id="rId17" Target="../media/image122.png" Type="http://schemas.openxmlformats.org/officeDocument/2006/relationships/image"/><Relationship Id="rId18" Target="../media/image123.png" Type="http://schemas.openxmlformats.org/officeDocument/2006/relationships/image"/><Relationship Id="rId19" Target="../media/image72.png" Type="http://schemas.openxmlformats.org/officeDocument/2006/relationships/image"/><Relationship Id="rId2" Target="../media/image1.png" Type="http://schemas.openxmlformats.org/officeDocument/2006/relationships/image"/><Relationship Id="rId20" Target="../media/image124.png" Type="http://schemas.openxmlformats.org/officeDocument/2006/relationships/image"/><Relationship Id="rId21" Target="../media/image125.png" Type="http://schemas.openxmlformats.org/officeDocument/2006/relationships/image"/><Relationship Id="rId22" Target="../media/image126.png" Type="http://schemas.openxmlformats.org/officeDocument/2006/relationships/image"/><Relationship Id="rId23" Target="../media/image88.png" Type="http://schemas.openxmlformats.org/officeDocument/2006/relationships/image"/><Relationship Id="rId3" Target="../media/image5.png" Type="http://schemas.openxmlformats.org/officeDocument/2006/relationships/image"/><Relationship Id="rId4" Target="../media/image113.png" Type="http://schemas.openxmlformats.org/officeDocument/2006/relationships/image"/><Relationship Id="rId5" Target="../media/image114.png" Type="http://schemas.openxmlformats.org/officeDocument/2006/relationships/image"/><Relationship Id="rId6" Target="../media/image115.png" Type="http://schemas.openxmlformats.org/officeDocument/2006/relationships/image"/><Relationship Id="rId7" Target="../media/image116.png" Type="http://schemas.openxmlformats.org/officeDocument/2006/relationships/image"/><Relationship Id="rId8" Target="../media/image61.png" Type="http://schemas.openxmlformats.org/officeDocument/2006/relationships/image"/><Relationship Id="rId9" Target="../media/image117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1.png" Type="http://schemas.openxmlformats.org/officeDocument/2006/relationships/image"/><Relationship Id="rId11" Target="../media/image132.png" Type="http://schemas.openxmlformats.org/officeDocument/2006/relationships/image"/><Relationship Id="rId12" Target="../media/image133.png" Type="http://schemas.openxmlformats.org/officeDocument/2006/relationships/image"/><Relationship Id="rId13" Target="../media/image99.png" Type="http://schemas.openxmlformats.org/officeDocument/2006/relationships/image"/><Relationship Id="rId14" Target="../media/image67.png" Type="http://schemas.openxmlformats.org/officeDocument/2006/relationships/image"/><Relationship Id="rId15" Target="../media/image84.png" Type="http://schemas.openxmlformats.org/officeDocument/2006/relationships/image"/><Relationship Id="rId16" Target="../media/image134.png" Type="http://schemas.openxmlformats.org/officeDocument/2006/relationships/image"/><Relationship Id="rId17" Target="../media/image135.png" Type="http://schemas.openxmlformats.org/officeDocument/2006/relationships/image"/><Relationship Id="rId18" Target="../media/image136.png" Type="http://schemas.openxmlformats.org/officeDocument/2006/relationships/image"/><Relationship Id="rId19" Target="../media/image72.png" Type="http://schemas.openxmlformats.org/officeDocument/2006/relationships/image"/><Relationship Id="rId2" Target="../media/image1.png" Type="http://schemas.openxmlformats.org/officeDocument/2006/relationships/image"/><Relationship Id="rId20" Target="../media/image73.png" Type="http://schemas.openxmlformats.org/officeDocument/2006/relationships/image"/><Relationship Id="rId21" Target="../media/image137.png" Type="http://schemas.openxmlformats.org/officeDocument/2006/relationships/image"/><Relationship Id="rId22" Target="../media/image88.png" Type="http://schemas.openxmlformats.org/officeDocument/2006/relationships/image"/><Relationship Id="rId3" Target="../media/image5.png" Type="http://schemas.openxmlformats.org/officeDocument/2006/relationships/image"/><Relationship Id="rId4" Target="../media/image57.png" Type="http://schemas.openxmlformats.org/officeDocument/2006/relationships/image"/><Relationship Id="rId5" Target="../media/image127.png" Type="http://schemas.openxmlformats.org/officeDocument/2006/relationships/image"/><Relationship Id="rId6" Target="../media/image128.png" Type="http://schemas.openxmlformats.org/officeDocument/2006/relationships/image"/><Relationship Id="rId7" Target="../media/image129.png" Type="http://schemas.openxmlformats.org/officeDocument/2006/relationships/image"/><Relationship Id="rId8" Target="../media/image61.png" Type="http://schemas.openxmlformats.org/officeDocument/2006/relationships/image"/><Relationship Id="rId9" Target="../media/image13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2.png" Type="http://schemas.openxmlformats.org/officeDocument/2006/relationships/image"/><Relationship Id="rId11" Target="../media/image94.png" Type="http://schemas.openxmlformats.org/officeDocument/2006/relationships/image"/><Relationship Id="rId12" Target="../media/image143.png" Type="http://schemas.openxmlformats.org/officeDocument/2006/relationships/image"/><Relationship Id="rId13" Target="../media/image144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145.png" Type="http://schemas.openxmlformats.org/officeDocument/2006/relationships/image"/><Relationship Id="rId17" Target="../media/image146.png" Type="http://schemas.openxmlformats.org/officeDocument/2006/relationships/image"/><Relationship Id="rId18" Target="../media/image147.png" Type="http://schemas.openxmlformats.org/officeDocument/2006/relationships/image"/><Relationship Id="rId19" Target="../media/image72.png" Type="http://schemas.openxmlformats.org/officeDocument/2006/relationships/image"/><Relationship Id="rId2" Target="../media/image1.png" Type="http://schemas.openxmlformats.org/officeDocument/2006/relationships/image"/><Relationship Id="rId20" Target="../media/image148.png" Type="http://schemas.openxmlformats.org/officeDocument/2006/relationships/image"/><Relationship Id="rId21" Target="../media/image101.png" Type="http://schemas.openxmlformats.org/officeDocument/2006/relationships/image"/><Relationship Id="rId22" Target="../media/image73.png" Type="http://schemas.openxmlformats.org/officeDocument/2006/relationships/image"/><Relationship Id="rId23" Target="../media/image149.png" Type="http://schemas.openxmlformats.org/officeDocument/2006/relationships/image"/><Relationship Id="rId3" Target="../media/image5.png" Type="http://schemas.openxmlformats.org/officeDocument/2006/relationships/image"/><Relationship Id="rId4" Target="../media/image57.png" Type="http://schemas.openxmlformats.org/officeDocument/2006/relationships/image"/><Relationship Id="rId5" Target="../media/image138.png" Type="http://schemas.openxmlformats.org/officeDocument/2006/relationships/image"/><Relationship Id="rId6" Target="../media/image139.png" Type="http://schemas.openxmlformats.org/officeDocument/2006/relationships/image"/><Relationship Id="rId7" Target="../media/image140.png" Type="http://schemas.openxmlformats.org/officeDocument/2006/relationships/image"/><Relationship Id="rId8" Target="../media/image61.png" Type="http://schemas.openxmlformats.org/officeDocument/2006/relationships/image"/><Relationship Id="rId9" Target="../media/image141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2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69.png" Type="http://schemas.openxmlformats.org/officeDocument/2006/relationships/image"/><Relationship Id="rId17" Target="../media/image70.png" Type="http://schemas.openxmlformats.org/officeDocument/2006/relationships/image"/><Relationship Id="rId18" Target="../media/image71.png" Type="http://schemas.openxmlformats.org/officeDocument/2006/relationships/image"/><Relationship Id="rId19" Target="../media/image72.png" Type="http://schemas.openxmlformats.org/officeDocument/2006/relationships/image"/><Relationship Id="rId2" Target="../media/image1.png" Type="http://schemas.openxmlformats.org/officeDocument/2006/relationships/image"/><Relationship Id="rId20" Target="../media/image73.png" Type="http://schemas.openxmlformats.org/officeDocument/2006/relationships/image"/><Relationship Id="rId21" Target="../media/image74.png" Type="http://schemas.openxmlformats.org/officeDocument/2006/relationships/image"/><Relationship Id="rId3" Target="../media/image5.png" Type="http://schemas.openxmlformats.org/officeDocument/2006/relationships/image"/><Relationship Id="rId4" Target="../media/image57.png" Type="http://schemas.openxmlformats.org/officeDocument/2006/relationships/image"/><Relationship Id="rId5" Target="../media/image76.png" Type="http://schemas.openxmlformats.org/officeDocument/2006/relationships/image"/><Relationship Id="rId6" Target="../media/image150.png" Type="http://schemas.openxmlformats.org/officeDocument/2006/relationships/image"/><Relationship Id="rId7" Target="../media/image78.png" Type="http://schemas.openxmlformats.org/officeDocument/2006/relationships/image"/><Relationship Id="rId8" Target="../media/image61.png" Type="http://schemas.openxmlformats.org/officeDocument/2006/relationships/image"/><Relationship Id="rId9" Target="../media/image151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04900" y="2108200"/>
            <a:ext cx="192659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7000"/>
          </a:blip>
          <a:stretch>
            <a:fillRect/>
          </a:stretch>
        </p:blipFill>
        <p:spPr>
          <a:xfrm rot="0">
            <a:off x="1270000" y="11493500"/>
            <a:ext cx="21844000" cy="9525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70000" y="2641600"/>
            <a:ext cx="173736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SemiBold"/>
              </a:rPr>
              <a:t>Movie Reservation System (DataBase)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0000" y="9512300"/>
            <a:ext cx="1498600" cy="1358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ea typeface="Pretendard Medium"/>
              </a:rPr>
              <a:t>발표자</a:t>
            </a:r>
          </a:p>
          <a:p>
            <a:pPr algn="l" lvl="0">
              <a:lnSpc>
                <a:spcPct val="141100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ea typeface="Pretendard Medium"/>
              </a:rPr>
              <a:t>팀원</a:t>
            </a:r>
          </a:p>
          <a:p>
            <a:pPr algn="l" lvl="0">
              <a:lnSpc>
                <a:spcPct val="141100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ea typeface="Pretendard Medium"/>
              </a:rPr>
              <a:t>일자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8600" y="9512300"/>
            <a:ext cx="6883400" cy="1358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ea typeface="Pretendard Regular"/>
              </a:rPr>
              <a:t>강태영</a:t>
            </a:r>
          </a:p>
          <a:p>
            <a:pPr algn="l" lvl="0">
              <a:lnSpc>
                <a:spcPct val="141100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왕규원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이규현</a:t>
            </a:r>
          </a:p>
          <a:p>
            <a:pPr algn="l" lvl="0">
              <a:lnSpc>
                <a:spcPct val="141100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Pretendard Regular"/>
              </a:rPr>
              <a:t>2025.12.12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834100" y="4381500"/>
            <a:ext cx="2463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834100" y="6007100"/>
            <a:ext cx="2463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834100" y="7632700"/>
            <a:ext cx="24638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834100" y="9258300"/>
            <a:ext cx="24638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834100" y="10858500"/>
            <a:ext cx="24638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905000" y="2578100"/>
            <a:ext cx="5613400" cy="1181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666" b="false" i="false" u="none" strike="noStrike">
                <a:solidFill>
                  <a:srgbClr val="000000"/>
                </a:solidFill>
                <a:ea typeface="Pretendard SemiBold"/>
              </a:rPr>
              <a:t>목차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0000" y="4000500"/>
            <a:ext cx="2044700" cy="787400"/>
          </a:xfrm>
          <a:prstGeom prst="rect">
            <a:avLst/>
          </a:prstGeom>
        </p:spPr>
        <p:txBody>
          <a:bodyPr anchor="t" rtlCol="false" lIns="0" tIns="55880" rIns="0" bIns="0"/>
          <a:lstStyle/>
          <a:p>
            <a:pPr algn="l" lvl="0">
              <a:lnSpc>
                <a:spcPct val="99600"/>
              </a:lnSpc>
            </a:pPr>
            <a:r>
              <a:rPr lang="en" sz="4400" b="false" i="false" u="none" strike="noStrike">
                <a:solidFill>
                  <a:srgbClr val="000000"/>
                </a:solidFill>
                <a:latin typeface="Pretendard Semi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90000" y="5626100"/>
            <a:ext cx="1917700" cy="787400"/>
          </a:xfrm>
          <a:prstGeom prst="rect">
            <a:avLst/>
          </a:prstGeom>
        </p:spPr>
        <p:txBody>
          <a:bodyPr anchor="t" rtlCol="false" lIns="0" tIns="55880" rIns="0" bIns="0"/>
          <a:lstStyle/>
          <a:p>
            <a:pPr algn="l" lvl="0">
              <a:lnSpc>
                <a:spcPct val="99600"/>
              </a:lnSpc>
            </a:pPr>
            <a:r>
              <a:rPr lang="en" sz="4400" b="false" i="false" u="none" strike="noStrike">
                <a:solidFill>
                  <a:srgbClr val="000000"/>
                </a:solidFill>
                <a:latin typeface="Pretendard Semi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90000" y="7251700"/>
            <a:ext cx="1917700" cy="787400"/>
          </a:xfrm>
          <a:prstGeom prst="rect">
            <a:avLst/>
          </a:prstGeom>
        </p:spPr>
        <p:txBody>
          <a:bodyPr anchor="t" rtlCol="false" lIns="0" tIns="55880" rIns="0" bIns="0"/>
          <a:lstStyle/>
          <a:p>
            <a:pPr algn="l" lvl="0">
              <a:lnSpc>
                <a:spcPct val="99600"/>
              </a:lnSpc>
            </a:pPr>
            <a:r>
              <a:rPr lang="en" sz="4400" b="false" i="false" u="none" strike="noStrike">
                <a:solidFill>
                  <a:srgbClr val="000000"/>
                </a:solidFill>
                <a:latin typeface="Pretendard Semi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90000" y="8877300"/>
            <a:ext cx="1917700" cy="787400"/>
          </a:xfrm>
          <a:prstGeom prst="rect">
            <a:avLst/>
          </a:prstGeom>
        </p:spPr>
        <p:txBody>
          <a:bodyPr anchor="t" rtlCol="false" lIns="0" tIns="55880" rIns="0" bIns="0"/>
          <a:lstStyle/>
          <a:p>
            <a:pPr algn="l" lvl="0">
              <a:lnSpc>
                <a:spcPct val="99600"/>
              </a:lnSpc>
            </a:pPr>
            <a:r>
              <a:rPr lang="en" sz="4400" b="false" i="false" u="none" strike="noStrike">
                <a:solidFill>
                  <a:srgbClr val="000000"/>
                </a:solidFill>
                <a:latin typeface="Pretendard SemiBold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90000" y="10477500"/>
            <a:ext cx="1917700" cy="787400"/>
          </a:xfrm>
          <a:prstGeom prst="rect">
            <a:avLst/>
          </a:prstGeom>
        </p:spPr>
        <p:txBody>
          <a:bodyPr anchor="t" rtlCol="false" lIns="0" tIns="55880" rIns="0" bIns="0"/>
          <a:lstStyle/>
          <a:p>
            <a:pPr algn="l" lvl="0">
              <a:lnSpc>
                <a:spcPct val="99600"/>
              </a:lnSpc>
            </a:pPr>
            <a:r>
              <a:rPr lang="en" sz="4400" b="false" i="false" u="none" strike="noStrike">
                <a:solidFill>
                  <a:srgbClr val="000000"/>
                </a:solidFill>
                <a:latin typeface="Pretendard Semi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7700" y="4076700"/>
            <a:ext cx="7734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/>
                </a:solidFill>
                <a:latin typeface="Pretendard SemiBold"/>
              </a:rPr>
              <a:t>Introduction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7700" y="5702300"/>
            <a:ext cx="7734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/>
                </a:solidFill>
                <a:latin typeface="Pretendard SemiBold"/>
              </a:rPr>
              <a:t>Requirements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07700" y="7327900"/>
            <a:ext cx="7734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/>
                </a:solidFill>
                <a:latin typeface="Pretendard SemiBold"/>
              </a:rPr>
              <a:t>Database 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07700" y="8940800"/>
            <a:ext cx="7734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/>
                </a:solidFill>
                <a:latin typeface="Pretendard SemiBold"/>
              </a:rPr>
              <a:t>Implementation &amp; Result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07700" y="10541000"/>
            <a:ext cx="7734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/>
                </a:solidFill>
                <a:latin typeface="Pretendard SemiBold"/>
              </a:rPr>
              <a:t>Conclusion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78900" y="4140200"/>
            <a:ext cx="1206500" cy="6096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Pretendard Regular"/>
              </a:rPr>
              <a:t>03p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678900" y="5753100"/>
            <a:ext cx="1206500" cy="6096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Pretendard Regular"/>
              </a:rPr>
              <a:t>05p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678900" y="7378700"/>
            <a:ext cx="12065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Pretendard Regular"/>
              </a:rPr>
              <a:t>00p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678900" y="9004300"/>
            <a:ext cx="12065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Pretendard Regular"/>
              </a:rPr>
              <a:t>00p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678900" y="10604500"/>
            <a:ext cx="12065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Pretendard Regular"/>
              </a:rPr>
              <a:t>00p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3449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프로젝트</a:t>
            </a:r>
            <a:r>
              <a:rPr lang="en-US" sz="64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개요</a:t>
            </a:r>
            <a:r>
              <a:rPr lang="en-US" sz="64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64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목적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Introduction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145000" y="4038600"/>
            <a:ext cx="5486400" cy="160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373100" y="6146800"/>
            <a:ext cx="5486400" cy="2425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45000" y="9372600"/>
            <a:ext cx="5486400" cy="1816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74800" y="5537200"/>
            <a:ext cx="11328400" cy="5181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본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프로젝트는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영화관의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하여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데이터베이스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설계한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콘솔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시스템이다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42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 55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테이블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구성된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대규모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스키마를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수준의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복잡도를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다뤘다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767800" y="12623800"/>
            <a:ext cx="2679700" cy="330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none" strike="noStrike">
                <a:solidFill>
                  <a:srgbClr val="000000"/>
                </a:solidFill>
                <a:ea typeface="Pretendard Regular"/>
              </a:rPr>
              <a:t>출처</a:t>
            </a:r>
            <a:r>
              <a:rPr lang="en-US" sz="1866" b="false" i="false" u="none" strike="noStrike">
                <a:solidFill>
                  <a:srgbClr val="000000"/>
                </a:solidFill>
                <a:latin typeface="Pretendard Regular"/>
              </a:rPr>
              <a:t> : </a:t>
            </a:r>
            <a:r>
              <a:rPr lang="ko-KR" sz="1866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18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none" strike="noStrike">
                <a:solidFill>
                  <a:srgbClr val="000000"/>
                </a:solidFill>
                <a:ea typeface="Pretendard Regular"/>
              </a:rPr>
              <a:t>영화관</a:t>
            </a:r>
            <a:r>
              <a:rPr lang="en-US" sz="18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none" strike="noStrike">
                <a:solidFill>
                  <a:srgbClr val="000000"/>
                </a:solidFill>
                <a:ea typeface="Pretendard Regular"/>
              </a:rPr>
              <a:t>사이트</a:t>
            </a:r>
            <a:r>
              <a:rPr lang="en-US" sz="18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none" strike="noStrike">
                <a:solidFill>
                  <a:srgbClr val="000000"/>
                </a:solidFill>
                <a:ea typeface="Pretendard Regular"/>
              </a:rPr>
              <a:t>로고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3449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프로젝트</a:t>
            </a:r>
            <a:r>
              <a:rPr lang="en-US" sz="64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개요</a:t>
            </a:r>
            <a:r>
              <a:rPr lang="en-US" sz="64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64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목적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Introduction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59200" y="2463800"/>
            <a:ext cx="6654800" cy="4165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50800" y="5080000"/>
            <a:ext cx="5486400" cy="4610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849600" y="6629400"/>
            <a:ext cx="6756400" cy="4546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74800" y="5537200"/>
            <a:ext cx="11328400" cy="5181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본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프로젝트는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영화관의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하여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데이터베이스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설계한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콘솔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시스템이다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42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 55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테이블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구성된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대규모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스키마를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수준의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복잡도를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다뤘다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68200" y="12712700"/>
            <a:ext cx="11925300" cy="9906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16199"/>
              </a:lnSpc>
            </a:pPr>
            <a:r>
              <a:rPr lang="ko-KR" sz="1866" b="false" i="false" u="none" strike="noStrike">
                <a:solidFill>
                  <a:srgbClr val="000000"/>
                </a:solidFill>
                <a:ea typeface="Pretendard Regular"/>
              </a:rPr>
              <a:t>출처</a:t>
            </a:r>
            <a:r>
              <a:rPr lang="en-US" sz="1866" b="false" i="false" u="none" strike="noStrike">
                <a:solidFill>
                  <a:srgbClr val="000000"/>
                </a:solidFill>
                <a:latin typeface="Pretendard Regular"/>
              </a:rPr>
              <a:t> : https://www.lottecinema.co.kr/NLCHS</a:t>
            </a:r>
          </a:p>
          <a:p>
            <a:pPr algn="r" lvl="0">
              <a:lnSpc>
                <a:spcPct val="116199"/>
              </a:lnSpc>
            </a:pPr>
            <a:r>
              <a:rPr lang="en" sz="1866" b="false" i="false" u="none" strike="noStrike">
                <a:solidFill>
                  <a:srgbClr val="000000"/>
                </a:solidFill>
                <a:latin typeface="Pretendard Regular"/>
              </a:rPr>
              <a:t>https://www.megabox.co.kr/</a:t>
            </a:r>
          </a:p>
          <a:p>
            <a:pPr algn="r" lvl="0">
              <a:lnSpc>
                <a:spcPct val="116199"/>
              </a:lnSpc>
            </a:pPr>
            <a:r>
              <a:rPr lang="en" sz="1866" b="false" i="false" u="none" strike="noStrike">
                <a:solidFill>
                  <a:srgbClr val="000000"/>
                </a:solidFill>
                <a:latin typeface="Pretendard Regular"/>
              </a:rPr>
              <a:t>https://cgv.co.kr/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Requirements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3449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기능</a:t>
            </a:r>
            <a:r>
              <a:rPr lang="en-US" sz="64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요구사항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Requirements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800" y="5537200"/>
            <a:ext cx="11328400" cy="444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기능은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규칙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비즈니스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규칙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체계로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정의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되었다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42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제약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쿠폰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규칙을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정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책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일반화했다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135100" y="2070100"/>
            <a:ext cx="2476500" cy="2476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777200" y="2120900"/>
            <a:ext cx="2565400" cy="256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062200" y="9550400"/>
            <a:ext cx="2463800" cy="2463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434300" y="8356600"/>
            <a:ext cx="3251200" cy="325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47700" y="7658100"/>
            <a:ext cx="3429000" cy="3429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360900" y="5321300"/>
            <a:ext cx="2730500" cy="2705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951700" y="4330700"/>
            <a:ext cx="965200" cy="774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776700" y="4305300"/>
            <a:ext cx="965200" cy="774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776700" y="8356600"/>
            <a:ext cx="965200" cy="774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951700" y="8356600"/>
            <a:ext cx="9652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3449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기능</a:t>
            </a:r>
            <a:r>
              <a:rPr lang="en-US" sz="64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요구사항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Requirements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800" y="5537200"/>
            <a:ext cx="11328400" cy="444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기능은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규칙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비즈니스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규칙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체계로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정의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되었다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42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제약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쿠폰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규칙을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정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책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일반화했다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68200" y="12712700"/>
            <a:ext cx="11925300" cy="330200"/>
          </a:xfrm>
          <a:prstGeom prst="rect">
            <a:avLst/>
          </a:prstGeom>
        </p:spPr>
        <p:txBody>
          <a:bodyPr anchor="t" rtlCol="false"/>
          <a:lstStyle/>
          <a:p>
            <a:pPr algn="r" lvl="0">
              <a:lnSpc>
                <a:spcPct val="116199"/>
              </a:lnSpc>
            </a:pPr>
            <a:r>
              <a:rPr lang="ko-KR" sz="1866" b="false" i="false" u="none" strike="noStrike">
                <a:solidFill>
                  <a:srgbClr val="000000"/>
                </a:solidFill>
                <a:ea typeface="Pretendard Regular"/>
              </a:rPr>
              <a:t>출처</a:t>
            </a:r>
            <a:r>
              <a:rPr lang="en-US" sz="1866" b="false" i="false" u="none" strike="noStrike">
                <a:solidFill>
                  <a:srgbClr val="000000"/>
                </a:solidFill>
                <a:latin typeface="Pretendard Regular"/>
              </a:rPr>
              <a:t> : https://cgv.co.kr/cnm/selectVisitorCnt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21000" y="2933700"/>
            <a:ext cx="5689600" cy="89154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484100" y="12039600"/>
            <a:ext cx="11963400" cy="469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CGV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표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Implement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Requirements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59000" y="8991600"/>
            <a:ext cx="27051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000000"/>
                </a:solidFill>
                <a:ea typeface="Pretendard Bold"/>
              </a:rPr>
              <a:t>영화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Bold"/>
              </a:rPr>
              <a:t>선택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05800" y="8991600"/>
            <a:ext cx="27051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000000"/>
                </a:solidFill>
                <a:ea typeface="Pretendard Bold"/>
              </a:rPr>
              <a:t>좌석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Bold"/>
              </a:rPr>
              <a:t>선택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73300" y="8991600"/>
            <a:ext cx="13716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000000"/>
                </a:solidFill>
                <a:ea typeface="Pretendard Bold"/>
              </a:rPr>
              <a:t>예약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28000" y="8991600"/>
            <a:ext cx="13716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000000"/>
                </a:solidFill>
                <a:ea typeface="Pretendard Bold"/>
              </a:rPr>
              <a:t>결제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52600" y="5448300"/>
            <a:ext cx="3314700" cy="341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86700" y="6159500"/>
            <a:ext cx="3340100" cy="2832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03300" y="5981700"/>
            <a:ext cx="3632200" cy="3632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824700" y="6426200"/>
            <a:ext cx="3175000" cy="209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537200" y="7289800"/>
            <a:ext cx="1879600" cy="1016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531600" y="7289800"/>
            <a:ext cx="18796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513300" y="7073900"/>
            <a:ext cx="1879600" cy="1016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4927600" y="10604500"/>
            <a:ext cx="14820900" cy="762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기능은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콘솔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제약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내에서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흐름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위주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구성되었다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3449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400" b="false" i="false" u="none" strike="noStrike">
                <a:solidFill>
                  <a:srgbClr val="000000"/>
                </a:solidFill>
                <a:latin typeface="Pretendard SemiBold"/>
              </a:rPr>
              <a:t>Implement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Requirements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800" y="7112000"/>
            <a:ext cx="11328400" cy="1498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" sz="42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조회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홀드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동시성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제어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구현하였다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15800" y="6515100"/>
            <a:ext cx="165100" cy="685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857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68200" y="6667500"/>
            <a:ext cx="165100" cy="685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857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220700" y="3860800"/>
            <a:ext cx="10591800" cy="7810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2534900" y="11671300"/>
            <a:ext cx="11963400" cy="469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예약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: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상영관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6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6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Constraint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0000" y="2235200"/>
            <a:ext cx="164846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Constraint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78000" y="3530600"/>
            <a:ext cx="3403600" cy="2895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607300" y="2997200"/>
            <a:ext cx="3987800" cy="398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020800" y="3467100"/>
            <a:ext cx="32893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735800" y="3302000"/>
            <a:ext cx="3378200" cy="3378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588000" y="4660900"/>
            <a:ext cx="18669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58600" y="4660900"/>
            <a:ext cx="18669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526000" y="4660900"/>
            <a:ext cx="1866900" cy="635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641600" y="6502400"/>
            <a:ext cx="17526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000000"/>
                </a:solidFill>
                <a:latin typeface="Pretendard Bold"/>
              </a:rPr>
              <a:t>Main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18500" y="6502400"/>
            <a:ext cx="26035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000000"/>
                </a:solidFill>
                <a:latin typeface="Pretendard Bold"/>
              </a:rPr>
              <a:t>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73300" y="6502400"/>
            <a:ext cx="16764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000000"/>
                </a:solidFill>
                <a:latin typeface="Pretendard Bold"/>
              </a:rPr>
              <a:t>DAO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701000" y="6502400"/>
            <a:ext cx="11049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000000"/>
                </a:solidFill>
                <a:latin typeface="Pretendard Bold"/>
              </a:rPr>
              <a:t>DB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73300" y="8026400"/>
            <a:ext cx="24384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787878"/>
                </a:solidFill>
                <a:latin typeface="Pretendard Bold"/>
              </a:rPr>
              <a:t>main.java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29500" y="8026400"/>
            <a:ext cx="4318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787878"/>
                </a:solidFill>
                <a:latin typeface="Pretendard Bold"/>
              </a:rPr>
              <a:t>\service\*service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90700" y="8026400"/>
            <a:ext cx="25908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787878"/>
                </a:solidFill>
                <a:latin typeface="Pretendard Bold"/>
              </a:rPr>
              <a:t>\dao\*dao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8600" y="9309100"/>
            <a:ext cx="20675600" cy="3517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콘솔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UI,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단일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로컬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DB,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개발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기간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제약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아래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DB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채택하였다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41100"/>
              </a:lnSpc>
            </a:pP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웹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모바일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고도화된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트랜잭션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, 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대규모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트래픽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처리는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범위에서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제외하고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완성도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에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집중하였다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41100"/>
              </a:lnSpc>
            </a:pP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일부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스키마만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하고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구현을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생략하였다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ER Diagram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전체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2260600"/>
            <a:ext cx="18237200" cy="1071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4902200"/>
            <a:ext cx="8305800" cy="5181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선택부터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환불까지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전체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책임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지는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시스템의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도메인이다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br>
              <a:rPr/>
            </a:b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과정의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변화와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금액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산출을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모두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관리하며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서비스의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구성한다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br>
              <a:rPr/>
            </a:b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부분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부분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환불까지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처리할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있어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운영에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가까운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가진다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2514600"/>
            <a:ext cx="13068300" cy="9956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5956300"/>
            <a:ext cx="8305800" cy="307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booking–booking_seat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분리로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다대다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문제를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해소하고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이력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추적이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가능하도록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설계했다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
booking_charge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금액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세분화해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부분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부분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환불을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수용하도록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확장성을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확보했다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2514600"/>
            <a:ext cx="13068300" cy="9956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4635500"/>
            <a:ext cx="8305800" cy="5842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강화하는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중요한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‘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조연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’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역할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이다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30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정보뿐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아니라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리뷰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선호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장르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추천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등급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등이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포함되어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있어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경험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개선과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재방문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유도에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직접적인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영향을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있다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30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보조하면서도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독립적인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가치를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가지는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도메인이다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2819400"/>
            <a:ext cx="13246100" cy="9334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51100" y="5956300"/>
            <a:ext cx="8305800" cy="3073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등급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선호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장르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리뷰를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독립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엔티티로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분리해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UX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단계적으로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확장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가능하게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설계했다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흐름과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느슨하게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연결해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유지보수성과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독립성을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높였다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2819400"/>
            <a:ext cx="13246100" cy="9334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074900" y="4775200"/>
            <a:ext cx="8305800" cy="571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가능해지기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필수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제공한다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30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자체의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메타데이터부터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(2D/IMAX/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자막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),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시간표까지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모두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도메인에서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관리하며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자연스럽게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연결된다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30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“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콘텐츠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스케줄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가능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”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여부라는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형성한다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2451100"/>
            <a:ext cx="13157200" cy="10363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25700" y="6096000"/>
            <a:ext cx="8305800" cy="3187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movie_version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분리로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2D/IMAX/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자막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증가에도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스키마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없이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확장이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가능하다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
showtime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상영관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조합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운영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그대로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반영했다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2451100"/>
            <a:ext cx="13157200" cy="10363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5295900"/>
            <a:ext cx="8305800" cy="4394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극장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기능의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기반이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되는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담당한다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30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극장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스크린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좌석으로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이어지는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계층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환경을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정의하고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screen_layout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screen_layout_master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스크린별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배치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템플릿을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유연하게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관리할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있도록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설계하였다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극장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3263900"/>
            <a:ext cx="13360400" cy="8445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5956300"/>
            <a:ext cx="8305800" cy="3187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screen_layout_master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템플릿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스크린이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동일한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배치를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공유한다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레이아웃만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교체하여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운영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유연성을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확보했다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극장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3263900"/>
            <a:ext cx="13360400" cy="8445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0000" y="2273300"/>
            <a:ext cx="22275800" cy="798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997200" y="10782300"/>
            <a:ext cx="18389600" cy="25273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쿠폰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단계에서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요금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할인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규칙을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적용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하는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도메인이다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41100"/>
              </a:lnSpc>
            </a:pPr>
            <a:br>
              <a:rPr/>
            </a:b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쿠폰은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타입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조건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혜택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분리해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형태의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쿠폰을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조합할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있도록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했으며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price_rule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price_rule_applies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시간대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스크린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타입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등급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따른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요금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유연하게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운영할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있다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쿠폰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0000" y="2273300"/>
            <a:ext cx="22275800" cy="798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997200" y="11087100"/>
            <a:ext cx="18389600" cy="1739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price_rule·price_rule_applies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시간대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스크린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타입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정책을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조합식으로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운영한다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쿠폰은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타입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조건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혜택을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분리해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스키마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없이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데이터만으로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새로운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정책을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생성할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있다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쿠폰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4572000"/>
            <a:ext cx="8305800" cy="6375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스낵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주문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직접적인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연관은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없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지만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운영에서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사용되는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부가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담는다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30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기능과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독립적으로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동작하기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때문에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구조적으로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분리하였다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30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공통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운영을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제공하며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notification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audit_log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연결되지는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않는다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매점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/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00700" y="6756400"/>
            <a:ext cx="7988300" cy="186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06600" y="2730500"/>
            <a:ext cx="2451100" cy="9944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6159500"/>
            <a:ext cx="8305800" cy="3187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스낵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주문은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예매와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독립된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비핵심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기능의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영향도가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도메인에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전파되지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않도록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분리했다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
audit_log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notification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공통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도메인으로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배치해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전체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가능하게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했다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매점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/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00700" y="6756400"/>
            <a:ext cx="7988300" cy="186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06600" y="2730500"/>
            <a:ext cx="2451100" cy="9944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Business 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06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27100" y="7061200"/>
            <a:ext cx="22542500" cy="952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"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예매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비즈니스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흐름은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사용자가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서비스를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이용하는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실제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절차를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중심으로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구성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"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Business Flow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493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Business Flow : Menu →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탐색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선택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예약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생성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결제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5130800"/>
            <a:ext cx="7137400" cy="5321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865100" y="5130800"/>
            <a:ext cx="9334500" cy="5321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0" y="7023100"/>
            <a:ext cx="3136900" cy="1803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493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Business Flow : 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Menu 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로그인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탐색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예약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생성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1200" y="2730500"/>
            <a:ext cx="7340600" cy="9994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135100" y="2730500"/>
            <a:ext cx="8267700" cy="9994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0" y="6832600"/>
            <a:ext cx="3136900" cy="1803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4135100" y="7874000"/>
            <a:ext cx="8191500" cy="4851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15621000" y="10299700"/>
            <a:ext cx="9779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Business Flow : 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Menu 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로그인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탐색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선택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예약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생성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94600" y="2921000"/>
            <a:ext cx="9194800" cy="10007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7670800" y="9232900"/>
            <a:ext cx="89916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Business Flow : 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Menu 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로그인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탐색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선택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예약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생성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451600" y="3606800"/>
            <a:ext cx="11468100" cy="830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7023100" y="7670800"/>
            <a:ext cx="2794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To Support The 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07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800" y="2501900"/>
            <a:ext cx="11277600" cy="10350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1) booking / booking_seat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분리로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다대다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해소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이력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흐름의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원칙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2)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전환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(trg_payment_after_insert)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INSERT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CONFIRMED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갱신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+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감사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로그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3)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계산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(fn_calc_refund_amount)
→ 20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여부에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따라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금액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계산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4)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상태변경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로그를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하나로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묶는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절차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(sp_cancel_booking_with_refund)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처리의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원자성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(Atomicity)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위해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단일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흐름으로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가능하도록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5) hold_seat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중복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방지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메커니즘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선점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(hold)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만료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정리로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동시성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대응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76200" y="2832100"/>
            <a:ext cx="11277600" cy="9690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6)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(Movie) -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(MovieVersion)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타입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(2D/IMAX/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자막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증가에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대비한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확장성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7) showtime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연결되는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허브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엔티티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연결하는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역할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8) member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세분화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(tier·role·login_history·preference)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운영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확장성을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고려한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정규화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9)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감사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로그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(audit_log)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통한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모든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예약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이력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보존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트리거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기록으로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무결성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보강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10)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부분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복합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확장을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중간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엔티티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가능성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언급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버전은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단일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결제지만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스키마는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확장성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기반으로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설계됨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800" y="2501900"/>
            <a:ext cx="11277600" cy="1047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1) booking / booking_seat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분리로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다대다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해소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이력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관리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흐름의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핵심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설계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원칙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2)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전환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(trg_payment_after_insert)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INSERT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CONFIRMED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갱신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+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감사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로그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기록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3)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기반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계산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(fn_calc_refund_amount)
→ 20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여부에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따라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금액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계산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4)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상태변경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로그를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하나로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묶는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절차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(sp_cancel_booking_with_refund)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구조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처리의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원자성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(Atomicity)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위해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단일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흐름으로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처리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가능하도록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설계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5) hold_seat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기반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중복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방지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메커니즘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선점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(hold)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만료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정리로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동시성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문제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대응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76200" y="2832100"/>
            <a:ext cx="11277600" cy="9817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6)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(Movie) -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버전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(MovieVersion)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분리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구조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타입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(2D/IMAX/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자막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증가에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대비한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확장성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7) showtime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이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여러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도메인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가격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)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연결되는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핵심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허브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엔티티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도메인과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정책을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연결하는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중심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역할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8) member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도메인의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세분화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(tier·role·login_history·preference)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서비스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운영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확장성을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고려한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정규화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구조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9)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감사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로그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(audit_log)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통한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모든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예약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/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변경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이력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보존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변경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트리거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기반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기록으로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무결성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보강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10)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부분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복합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확장을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위한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중간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엔티티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도입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가능성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언급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버전은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단일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결제지만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스키마는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확장성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기반으로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설계됨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/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/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/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/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3">
            <a:alphaModFix amt="30000"/>
          </a:blip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>
            <a:alphaModFix amt="30000"/>
          </a:blip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5">
            <a:alphaModFix amt="30000"/>
          </a:blip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>
            <a:alphaModFix amt="30000"/>
          </a:blip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3">
            <a:alphaModFix amt="30000"/>
          </a:blip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alphaModFix amt="30000"/>
          </a:blip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alphaModFix amt="30000"/>
          </a:blip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>
            <a:alphaModFix amt="30000"/>
          </a:blip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3">
            <a:alphaModFix amt="30000"/>
          </a:blip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/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alphaModFix amt="30000"/>
          </a:blip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>
            <a:alphaModFix amt="30000"/>
          </a:blip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alphaModFix amt="30000"/>
          </a:blip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>
            <a:alphaModFix amt="30000"/>
          </a:blip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alphaModFix amt="30000"/>
          </a:blip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/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3">
            <a:alphaModFix amt="30000"/>
          </a:blip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alphaModFix amt="30000"/>
          </a:blip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>
            <a:alphaModFix amt="30000"/>
          </a:blip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/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alphaModFix amt="30000"/>
          </a:blip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>
            <a:alphaModFix amt="30000"/>
          </a:blip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alphaModFix amt="30000"/>
          </a:blip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>
            <a:alphaModFix amt="30000"/>
          </a:blip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/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/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/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/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/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Conclusion &amp; Limitation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08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4211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400" b="false" i="false" u="none" strike="noStrike">
                <a:solidFill>
                  <a:srgbClr val="000000"/>
                </a:solidFill>
                <a:ea typeface="Pretendard SemiBold"/>
              </a:rPr>
              <a:t>한계점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800" y="4927600"/>
            <a:ext cx="21348700" cy="5321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콘솔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단일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로컬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DB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인해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수준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구현은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" sz="3733" b="true" i="false" u="none" strike="noStrike">
                <a:solidFill>
                  <a:srgbClr val="000000"/>
                </a:solidFill>
                <a:ea typeface="Pretendard Regular"/>
              </a:rPr>
              <a:t>제한적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이었다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웹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모바일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고도화된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트랜잭션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대규모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트래픽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는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범위에서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" sz="3733" b="true" i="false" u="none" strike="noStrike">
                <a:solidFill>
                  <a:srgbClr val="000000"/>
                </a:solidFill>
                <a:ea typeface="Pretendard Regular"/>
              </a:rPr>
              <a:t>제외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되어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아쉬움이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남는다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일부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스키마만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하고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구현을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생략하여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완전히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검증하기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어렵다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확장성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는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시도했으나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실운영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기준의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복잡한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연동은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포함되지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못했다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4211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400" b="false" i="false" u="none" strike="noStrike">
                <a:solidFill>
                  <a:srgbClr val="000000"/>
                </a:solidFill>
                <a:ea typeface="Pretendard SemiBold"/>
              </a:rPr>
              <a:t>결론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7500" y="5003800"/>
            <a:ext cx="21348700" cy="3708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주어진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제약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속에서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구조화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정규화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중심으로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완성도를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높였다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b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</a:b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동시성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규정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비즈니스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규칙을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DB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일관성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있게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처리하도록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구성했다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결과적으로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범위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내에서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DB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라는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목표를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충실히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달성하였다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756900" y="6845300"/>
            <a:ext cx="20828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683000" y="6261100"/>
            <a:ext cx="10579100" cy="12954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107899"/>
              </a:lnSpc>
            </a:pPr>
            <a:r>
              <a:rPr lang="en" sz="6666" b="false" i="false" u="none" strike="noStrike">
                <a:solidFill>
                  <a:srgbClr val="000000">
                    <a:alpha val="45098"/>
                  </a:srgbClr>
                </a:solidFill>
                <a:latin typeface="Pretendard SemiBold"/>
              </a:rPr>
              <a:t>DB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0" y="5981700"/>
            <a:ext cx="11404600" cy="1752600"/>
          </a:xfrm>
          <a:prstGeom prst="rect">
            <a:avLst/>
          </a:prstGeom>
        </p:spPr>
        <p:txBody>
          <a:bodyPr anchor="t" rtlCol="false" lIns="0" tIns="62654" rIns="0" bIns="0"/>
          <a:lstStyle/>
          <a:p>
            <a:pPr algn="l" lvl="0">
              <a:lnSpc>
                <a:spcPct val="107899"/>
              </a:lnSpc>
            </a:pPr>
            <a:r>
              <a:rPr lang="en" sz="9866" b="false" i="false" u="none" strike="noStrike">
                <a:solidFill>
                  <a:srgbClr val="000000"/>
                </a:solidFill>
                <a:latin typeface="Pretendard Semi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